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Deschid prezentarea prin tema centrală: spațiul și timpul ca două repere prin care înțelegem lumea. Voi arăta că ele nu apar doar în fizică, ci și în chimie, biologie, istorie, geografie, filosofie, religie și informatică.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Aici formulez întrebarea de cercetare. Tema este eficientă pentru că permite o punte între științe exacte, științe umaniste și discipline ale sensului, fără ca lucrarea să devină o compilație de fragmente.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Prezint structura proiectului: măsurarea spațiului și timpului, trăirea lor în viață și societate, apoi interpretarea lor filosofică și religioasă. Această schemă ajută la păstrarea coerenței.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fizică, contrastul esențial este între timpul absolut din mecanica clasică și timpul relativ la sistemul de referință din teoria relativității. Nu spunem că mecanica clasică este inutilă, ci că are un domeniu de aplicare.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chimie, timpul se observă prin viteza reacțiilor. Variațiile de temperatură, concentrație, suprafață și catalizatori modifică ritmul transformării, iar experimentul permite verificarea unei ipoteze.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Biologia aduce o perspectivă diferită: timpul nu este doar timpul ceasului, ci ritmul proceselor vii. În plus, spațiul nu este doar măsurat, ci și perceput de sistemul nervos.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istorie, timpul devine cronologie, dar și durată. Spațiul istoric adaugă locul: frontiere, orașe, rute, regiuni și centre de putere.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Geografia lucrează cu scări diferite. Universul observabil arată relația dintre distanță și trecut, iar Europa globalizată arată cum infrastructurile și fluxurile modifică spațiul trăit.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Filosofia compară poziții: absolutismul lui Newton, relaționalismul lui Leibniz, soluția transcendentală a lui Kant și consecințele relativității la Einstein. Ideea este să arăt că termenii au sensuri diferite în contexte diferite.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religie, timpul nu este doar durată, ci poate deveni timp liturgic, adică ritm al memoriei și al participării. Spațiul bisericii este loc concret, dar și spațiu comunitar și spiritual.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Informatica transformă spațiul și timpul în date. Inteligența artificială poate anticipa tendințe, însă rezultatul este probabilistic și depinde de calitatea datelor, de model și de validare.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Acest slide sintetizează contribuția fiecărei discipline. Ideea de unitate este că fiecare domeniu explică o parte din relația dintre localizare, durată, transformare și sens.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Tema are relevanță practică: nu rămâne abstractă. Ea se vede în tehnologie, sănătate, politicile geografice, memoria istorică, viața religioasă și etica inteligenței artificiale.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Concluzia pune accent pe unitatea temei. Spațiul și timpul sunt simultan concepte științifice, experiențe umane și repere ale responsabilității.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Închei menționând că prezentarea folosește o bibliografie selectivă, iar lista completă se află în documentație.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w="12700">
            <a:solidFill>
              <a:srgbClr val="FFFFFF"/>
            </a:solidFill>
            <a:prstDash val="solid"/>
          </a:ln>
        </p:spPr>
      </p:sp>
      <p:sp>
        <p:nvSpPr>
          <p:cNvPr id="3" name="Shape 1"/>
          <p:cNvSpPr/>
          <p:nvPr/>
        </p:nvSpPr>
        <p:spPr>
          <a:xfrm>
            <a:off x="0" y="0"/>
            <a:ext cx="164592" cy="6858000"/>
          </a:xfrm>
          <a:prstGeom prst="rect">
            <a:avLst/>
          </a:prstGeom>
          <a:solidFill>
            <a:srgbClr val="2F80ED"/>
          </a:solidFill>
          <a:ln w="12700">
            <a:solidFill>
              <a:srgbClr val="2F80ED"/>
            </a:solidFill>
            <a:prstDash val="solid"/>
          </a:ln>
        </p:spPr>
      </p:sp>
      <p:sp>
        <p:nvSpPr>
          <p:cNvPr id="4" name="Shape 2"/>
          <p:cNvSpPr/>
          <p:nvPr/>
        </p:nvSpPr>
        <p:spPr>
          <a:xfrm>
            <a:off x="164592" y="0"/>
            <a:ext cx="73152" cy="6858000"/>
          </a:xfrm>
          <a:prstGeom prst="rect">
            <a:avLst/>
          </a:prstGeom>
          <a:solidFill>
            <a:srgbClr val="24A19C"/>
          </a:solidFill>
          <a:ln w="12700">
            <a:solidFill>
              <a:srgbClr val="24A19C"/>
            </a:solidFill>
            <a:prstDash val="solid"/>
          </a:ln>
        </p:spPr>
      </p:sp>
      <p:sp>
        <p:nvSpPr>
          <p:cNvPr id="5" name="Text 3"/>
          <p:cNvSpPr/>
          <p:nvPr/>
        </p:nvSpPr>
        <p:spPr>
          <a:xfrm>
            <a:off x="685800" y="475488"/>
            <a:ext cx="7315200" cy="256032"/>
          </a:xfrm>
          <a:prstGeom prst="rect">
            <a:avLst/>
          </a:prstGeom>
          <a:noFill/>
          <a:ln/>
        </p:spPr>
        <p:txBody>
          <a:bodyPr wrap="square" lIns="0" tIns="0" rIns="0" bIns="0" rtlCol="0" anchor="ctr"/>
          <a:lstStyle/>
          <a:p>
            <a:pPr indent="0" marL="0">
              <a:buNone/>
            </a:pPr>
            <a:r>
              <a:rPr lang="en-US" sz="1400" b="1" dirty="0">
                <a:solidFill>
                  <a:srgbClr val="0B1F33"/>
                </a:solidFill>
              </a:rPr>
              <a:t>Liceul Teoretic Jean Monnet</a:t>
            </a:r>
            <a:endParaRPr lang="en-US" sz="1400" dirty="0"/>
          </a:p>
        </p:txBody>
      </p:sp>
      <p:sp>
        <p:nvSpPr>
          <p:cNvPr id="6" name="Text 4"/>
          <p:cNvSpPr/>
          <p:nvPr/>
        </p:nvSpPr>
        <p:spPr>
          <a:xfrm>
            <a:off x="685800" y="786384"/>
            <a:ext cx="4389120" cy="182880"/>
          </a:xfrm>
          <a:prstGeom prst="rect">
            <a:avLst/>
          </a:prstGeom>
          <a:noFill/>
          <a:ln/>
        </p:spPr>
        <p:txBody>
          <a:bodyPr wrap="square" lIns="0" tIns="0" rIns="0" bIns="0" rtlCol="0" anchor="ctr"/>
          <a:lstStyle/>
          <a:p>
            <a:pPr indent="0" marL="0">
              <a:buNone/>
            </a:pPr>
            <a:r>
              <a:rPr lang="en-US" sz="1050" dirty="0">
                <a:solidFill>
                  <a:srgbClr val="5B6777"/>
                </a:solidFill>
              </a:rPr>
              <a:t>Proiect Pilot 2025–2026</a:t>
            </a:r>
            <a:endParaRPr lang="en-US" sz="1050" dirty="0"/>
          </a:p>
        </p:txBody>
      </p:sp>
      <p:sp>
        <p:nvSpPr>
          <p:cNvPr id="7" name="Text 5"/>
          <p:cNvSpPr/>
          <p:nvPr/>
        </p:nvSpPr>
        <p:spPr>
          <a:xfrm>
            <a:off x="685800" y="2057400"/>
            <a:ext cx="10881360" cy="685800"/>
          </a:xfrm>
          <a:prstGeom prst="rect">
            <a:avLst/>
          </a:prstGeom>
          <a:noFill/>
          <a:ln/>
        </p:spPr>
        <p:txBody>
          <a:bodyPr wrap="square" lIns="0" tIns="0" rIns="0" bIns="0" rtlCol="0" anchor="ctr">
            <a:normAutofit/>
          </a:bodyPr>
          <a:lstStyle/>
          <a:p>
            <a:pPr indent="0" marL="0">
              <a:buNone/>
            </a:pPr>
            <a:r>
              <a:rPr lang="en-US" sz="3800" b="1" dirty="0">
                <a:solidFill>
                  <a:srgbClr val="0B1F33"/>
                </a:solidFill>
              </a:rPr>
              <a:t>SPAȚIUL ȘI TIMPUL</a:t>
            </a:r>
            <a:endParaRPr lang="en-US" sz="3800" dirty="0"/>
          </a:p>
        </p:txBody>
      </p:sp>
      <p:sp>
        <p:nvSpPr>
          <p:cNvPr id="8" name="Text 6"/>
          <p:cNvSpPr/>
          <p:nvPr/>
        </p:nvSpPr>
        <p:spPr>
          <a:xfrm>
            <a:off x="713232" y="2834640"/>
            <a:ext cx="9784080" cy="594360"/>
          </a:xfrm>
          <a:prstGeom prst="rect">
            <a:avLst/>
          </a:prstGeom>
          <a:noFill/>
          <a:ln/>
        </p:spPr>
        <p:txBody>
          <a:bodyPr wrap="square" lIns="0" tIns="0" rIns="0" bIns="0" rtlCol="0" anchor="ctr">
            <a:normAutofit/>
          </a:bodyPr>
          <a:lstStyle/>
          <a:p>
            <a:pPr indent="0" marL="0">
              <a:buNone/>
            </a:pPr>
            <a:r>
              <a:rPr lang="en-US" sz="1750" dirty="0">
                <a:solidFill>
                  <a:srgbClr val="5B6777"/>
                </a:solidFill>
              </a:rPr>
              <a:t>O abordare interdisciplinară: de la relativitate și reacții chimice</a:t>
            </a:r>
            <a:endParaRPr lang="en-US" sz="1750" dirty="0"/>
          </a:p>
          <a:p>
            <a:pPr indent="0" marL="0">
              <a:buNone/>
            </a:pPr>
            <a:r>
              <a:rPr lang="en-US" sz="1750" dirty="0">
                <a:solidFill>
                  <a:srgbClr val="5B6777"/>
                </a:solidFill>
              </a:rPr>
              <a:t>la istorie, filosofie, religie și predicția prin IA</a:t>
            </a:r>
            <a:endParaRPr lang="en-US" sz="1750" dirty="0"/>
          </a:p>
        </p:txBody>
      </p:sp>
      <p:sp>
        <p:nvSpPr>
          <p:cNvPr id="9" name="Shape 7"/>
          <p:cNvSpPr/>
          <p:nvPr/>
        </p:nvSpPr>
        <p:spPr>
          <a:xfrm>
            <a:off x="713232" y="3749040"/>
            <a:ext cx="5669280" cy="0"/>
          </a:xfrm>
          <a:prstGeom prst="line">
            <a:avLst/>
          </a:prstGeom>
          <a:noFill/>
          <a:ln w="12700">
            <a:solidFill>
              <a:srgbClr val="E8EEF5"/>
            </a:solidFill>
            <a:prstDash val="solid"/>
          </a:ln>
        </p:spPr>
      </p:sp>
      <p:sp>
        <p:nvSpPr>
          <p:cNvPr id="10" name="Text 8"/>
          <p:cNvSpPr/>
          <p:nvPr/>
        </p:nvSpPr>
        <p:spPr>
          <a:xfrm>
            <a:off x="713232" y="4041648"/>
            <a:ext cx="5303520" cy="731520"/>
          </a:xfrm>
          <a:prstGeom prst="rect">
            <a:avLst/>
          </a:prstGeom>
          <a:noFill/>
          <a:ln/>
        </p:spPr>
        <p:txBody>
          <a:bodyPr wrap="square" lIns="254" tIns="254" rIns="254" bIns="254" rtlCol="0" anchor="ctr"/>
          <a:lstStyle/>
          <a:p>
            <a:pPr indent="0" marL="0">
              <a:buNone/>
            </a:pPr>
            <a:r>
              <a:rPr lang="en-US" sz="1300" dirty="0">
                <a:solidFill>
                  <a:srgbClr val="1F2937"/>
                </a:solidFill>
              </a:rPr>
              <a:t>Elev: Duțu Edmond</a:t>
            </a:r>
            <a:endParaRPr lang="en-US" sz="1300" dirty="0"/>
          </a:p>
          <a:p>
            <a:pPr indent="0" marL="0">
              <a:buNone/>
            </a:pPr>
            <a:r>
              <a:rPr lang="en-US" sz="1300" dirty="0">
                <a:solidFill>
                  <a:srgbClr val="1F2937"/>
                </a:solidFill>
              </a:rPr>
              <a:t>Clasa: a XII-a C</a:t>
            </a:r>
            <a:endParaRPr lang="en-US" sz="1300" dirty="0"/>
          </a:p>
          <a:p>
            <a:pPr indent="0" marL="0">
              <a:buNone/>
            </a:pPr>
            <a:r>
              <a:rPr lang="en-US" sz="1300" dirty="0">
                <a:solidFill>
                  <a:srgbClr val="1F2937"/>
                </a:solidFill>
              </a:rPr>
              <a:t>Profesor coordonator: Oprea Ana-Maria</a:t>
            </a:r>
            <a:endParaRPr lang="en-US" sz="1300" dirty="0"/>
          </a:p>
        </p:txBody>
      </p:sp>
      <p:sp>
        <p:nvSpPr>
          <p:cNvPr id="11" name="Shape 9"/>
          <p:cNvSpPr/>
          <p:nvPr/>
        </p:nvSpPr>
        <p:spPr>
          <a:xfrm>
            <a:off x="9784080" y="1234440"/>
            <a:ext cx="1280160" cy="1280160"/>
          </a:xfrm>
          <a:prstGeom prst="ellipse">
            <a:avLst/>
          </a:prstGeom>
          <a:solidFill>
            <a:srgbClr val="2F80ED">
              <a:alpha val="92000"/>
            </a:srgbClr>
          </a:solidFill>
          <a:ln w="12700">
            <a:solidFill>
              <a:srgbClr val="2F80ED"/>
            </a:solidFill>
            <a:prstDash val="solid"/>
          </a:ln>
        </p:spPr>
      </p:sp>
      <p:sp>
        <p:nvSpPr>
          <p:cNvPr id="12" name="Shape 10"/>
          <p:cNvSpPr/>
          <p:nvPr/>
        </p:nvSpPr>
        <p:spPr>
          <a:xfrm>
            <a:off x="8732520" y="2377440"/>
            <a:ext cx="2011680" cy="2011680"/>
          </a:xfrm>
          <a:prstGeom prst="ellipse">
            <a:avLst/>
          </a:prstGeom>
          <a:solidFill>
            <a:srgbClr val="24A19C">
              <a:alpha val="82000"/>
            </a:srgbClr>
          </a:solidFill>
          <a:ln w="12700">
            <a:solidFill>
              <a:srgbClr val="24A19C"/>
            </a:solidFill>
            <a:prstDash val="solid"/>
          </a:ln>
        </p:spPr>
      </p:sp>
      <p:sp>
        <p:nvSpPr>
          <p:cNvPr id="13" name="Shape 11"/>
          <p:cNvSpPr/>
          <p:nvPr/>
        </p:nvSpPr>
        <p:spPr>
          <a:xfrm>
            <a:off x="10332720" y="3383280"/>
            <a:ext cx="914400" cy="914400"/>
          </a:xfrm>
          <a:prstGeom prst="ellipse">
            <a:avLst/>
          </a:prstGeom>
          <a:solidFill>
            <a:srgbClr val="F2C94C"/>
          </a:solidFill>
          <a:ln w="12700">
            <a:solidFill>
              <a:srgbClr val="F2C94C"/>
            </a:solidFill>
            <a:prstDash val="solid"/>
          </a:ln>
        </p:spPr>
      </p:sp>
      <p:sp>
        <p:nvSpPr>
          <p:cNvPr id="14" name="Text 12"/>
          <p:cNvSpPr/>
          <p:nvPr/>
        </p:nvSpPr>
        <p:spPr>
          <a:xfrm>
            <a:off x="8897112" y="2706624"/>
            <a:ext cx="1691640" cy="868680"/>
          </a:xfrm>
          <a:prstGeom prst="rect">
            <a:avLst/>
          </a:prstGeom>
          <a:noFill/>
          <a:ln/>
        </p:spPr>
        <p:txBody>
          <a:bodyPr wrap="square" lIns="0" tIns="0" rIns="0" bIns="0" rtlCol="0" anchor="ctr"/>
          <a:lstStyle/>
          <a:p>
            <a:pPr algn="ctr" indent="0" marL="0">
              <a:buNone/>
            </a:pPr>
            <a:r>
              <a:rPr lang="en-US" sz="1400" b="1" dirty="0">
                <a:solidFill>
                  <a:srgbClr val="FFFFFF"/>
                </a:solidFill>
              </a:rPr>
              <a:t>unde?</a:t>
            </a:r>
            <a:endParaRPr lang="en-US" sz="1400" dirty="0"/>
          </a:p>
          <a:p>
            <a:pPr algn="ctr" indent="0" marL="0">
              <a:buNone/>
            </a:pPr>
            <a:r>
              <a:rPr lang="en-US" sz="1400" b="1" dirty="0">
                <a:solidFill>
                  <a:srgbClr val="FFFFFF"/>
                </a:solidFill>
              </a:rPr>
              <a:t>când?</a:t>
            </a:r>
            <a:endParaRPr lang="en-US" sz="1400" dirty="0"/>
          </a:p>
          <a:p>
            <a:pPr algn="ctr" indent="0" marL="0">
              <a:buNone/>
            </a:pPr>
            <a:r>
              <a:rPr lang="en-US" sz="1400" b="1" dirty="0">
                <a:solidFill>
                  <a:srgbClr val="FFFFFF"/>
                </a:solidFill>
              </a:rPr>
              <a:t>cu ce sens?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Introducere</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Întrebarea centrală a proiectului</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2</a:t>
            </a:r>
            <a:endParaRPr lang="en-US" sz="780" dirty="0"/>
          </a:p>
        </p:txBody>
      </p:sp>
      <p:sp>
        <p:nvSpPr>
          <p:cNvPr id="8" name="Text 6"/>
          <p:cNvSpPr/>
          <p:nvPr/>
        </p:nvSpPr>
        <p:spPr>
          <a:xfrm>
            <a:off x="777240" y="1417320"/>
            <a:ext cx="10607040" cy="713232"/>
          </a:xfrm>
          <a:prstGeom prst="rect">
            <a:avLst/>
          </a:prstGeom>
          <a:noFill/>
          <a:ln/>
        </p:spPr>
        <p:txBody>
          <a:bodyPr wrap="square" lIns="254" tIns="254" rIns="254" bIns="254" rtlCol="0" anchor="ctr">
            <a:normAutofit/>
          </a:bodyPr>
          <a:lstStyle/>
          <a:p>
            <a:pPr algn="ctr" indent="0" marL="0">
              <a:buNone/>
            </a:pPr>
            <a:r>
              <a:rPr lang="en-US" sz="2200" b="1" dirty="0">
                <a:solidFill>
                  <a:srgbClr val="0B1F33"/>
                </a:solidFill>
              </a:rPr>
              <a:t>Cum se schimbă modul în care înțelegem realitatea atunci când privim spațiul și timpul prin mai multe discipline?</a:t>
            </a:r>
            <a:endParaRPr lang="en-US" sz="2200" dirty="0"/>
          </a:p>
        </p:txBody>
      </p:sp>
      <p:sp>
        <p:nvSpPr>
          <p:cNvPr id="9" name="Shape 7"/>
          <p:cNvSpPr/>
          <p:nvPr/>
        </p:nvSpPr>
        <p:spPr>
          <a:xfrm>
            <a:off x="777240" y="2514600"/>
            <a:ext cx="3383280" cy="2423160"/>
          </a:xfrm>
          <a:prstGeom prst="roundRect">
            <a:avLst>
              <a:gd name="adj" fmla="val 3019"/>
            </a:avLst>
          </a:prstGeom>
          <a:solidFill>
            <a:srgbClr val="FFFFFF"/>
          </a:solidFill>
          <a:ln w="13970">
            <a:solidFill>
              <a:srgbClr val="2F80ED"/>
            </a:solidFill>
            <a:prstDash val="solid"/>
          </a:ln>
        </p:spPr>
      </p:sp>
      <p:sp>
        <p:nvSpPr>
          <p:cNvPr id="10" name="Shape 8"/>
          <p:cNvSpPr/>
          <p:nvPr/>
        </p:nvSpPr>
        <p:spPr>
          <a:xfrm>
            <a:off x="777240" y="2514600"/>
            <a:ext cx="3383280" cy="347472"/>
          </a:xfrm>
          <a:prstGeom prst="rect">
            <a:avLst/>
          </a:prstGeom>
          <a:solidFill>
            <a:srgbClr val="2F80ED"/>
          </a:solidFill>
          <a:ln w="12700">
            <a:solidFill>
              <a:srgbClr val="2F80ED"/>
            </a:solidFill>
            <a:prstDash val="solid"/>
          </a:ln>
        </p:spPr>
      </p:sp>
      <p:sp>
        <p:nvSpPr>
          <p:cNvPr id="11" name="Text 9"/>
          <p:cNvSpPr/>
          <p:nvPr/>
        </p:nvSpPr>
        <p:spPr>
          <a:xfrm>
            <a:off x="914400" y="2606040"/>
            <a:ext cx="310896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De ce tema?</a:t>
            </a:r>
            <a:endParaRPr lang="en-US" sz="930" dirty="0"/>
          </a:p>
        </p:txBody>
      </p:sp>
      <p:sp>
        <p:nvSpPr>
          <p:cNvPr id="12" name="Text 10"/>
          <p:cNvSpPr/>
          <p:nvPr/>
        </p:nvSpPr>
        <p:spPr>
          <a:xfrm>
            <a:off x="941832" y="2990088"/>
            <a:ext cx="3054096" cy="1856232"/>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Pentru că orice fenomen are o localizare, o durată, o evoluție și o interpretare.</a:t>
            </a:r>
            <a:endParaRPr lang="en-US" sz="1500" dirty="0"/>
          </a:p>
        </p:txBody>
      </p:sp>
      <p:sp>
        <p:nvSpPr>
          <p:cNvPr id="13" name="Shape 11"/>
          <p:cNvSpPr/>
          <p:nvPr/>
        </p:nvSpPr>
        <p:spPr>
          <a:xfrm>
            <a:off x="4407408" y="2514600"/>
            <a:ext cx="3383280" cy="2423160"/>
          </a:xfrm>
          <a:prstGeom prst="roundRect">
            <a:avLst>
              <a:gd name="adj" fmla="val 3019"/>
            </a:avLst>
          </a:prstGeom>
          <a:solidFill>
            <a:srgbClr val="FFFFFF"/>
          </a:solidFill>
          <a:ln w="13970">
            <a:solidFill>
              <a:srgbClr val="24A19C"/>
            </a:solidFill>
            <a:prstDash val="solid"/>
          </a:ln>
        </p:spPr>
      </p:sp>
      <p:sp>
        <p:nvSpPr>
          <p:cNvPr id="14" name="Shape 12"/>
          <p:cNvSpPr/>
          <p:nvPr/>
        </p:nvSpPr>
        <p:spPr>
          <a:xfrm>
            <a:off x="4407408" y="2514600"/>
            <a:ext cx="3383280" cy="347472"/>
          </a:xfrm>
          <a:prstGeom prst="rect">
            <a:avLst/>
          </a:prstGeom>
          <a:solidFill>
            <a:srgbClr val="24A19C"/>
          </a:solidFill>
          <a:ln w="12700">
            <a:solidFill>
              <a:srgbClr val="24A19C"/>
            </a:solidFill>
            <a:prstDash val="solid"/>
          </a:ln>
        </p:spPr>
      </p:sp>
      <p:sp>
        <p:nvSpPr>
          <p:cNvPr id="15" name="Text 13"/>
          <p:cNvSpPr/>
          <p:nvPr/>
        </p:nvSpPr>
        <p:spPr>
          <a:xfrm>
            <a:off x="4544568" y="2606040"/>
            <a:ext cx="310896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Ipoteza</a:t>
            </a:r>
            <a:endParaRPr lang="en-US" sz="930" dirty="0"/>
          </a:p>
        </p:txBody>
      </p:sp>
      <p:sp>
        <p:nvSpPr>
          <p:cNvPr id="16" name="Text 14"/>
          <p:cNvSpPr/>
          <p:nvPr/>
        </p:nvSpPr>
        <p:spPr>
          <a:xfrm>
            <a:off x="4572000" y="2990088"/>
            <a:ext cx="3054096" cy="1856232"/>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Spațiul și timpul nu sunt doar decor, ci condiții de observare, transformare și sens.</a:t>
            </a:r>
            <a:endParaRPr lang="en-US" sz="1500" dirty="0"/>
          </a:p>
        </p:txBody>
      </p:sp>
      <p:sp>
        <p:nvSpPr>
          <p:cNvPr id="17" name="Shape 15"/>
          <p:cNvSpPr/>
          <p:nvPr/>
        </p:nvSpPr>
        <p:spPr>
          <a:xfrm>
            <a:off x="8037576" y="2514600"/>
            <a:ext cx="3383280" cy="2423160"/>
          </a:xfrm>
          <a:prstGeom prst="roundRect">
            <a:avLst>
              <a:gd name="adj" fmla="val 3019"/>
            </a:avLst>
          </a:prstGeom>
          <a:solidFill>
            <a:srgbClr val="FFFFFF"/>
          </a:solidFill>
          <a:ln w="13970">
            <a:solidFill>
              <a:srgbClr val="9B51E0"/>
            </a:solidFill>
            <a:prstDash val="solid"/>
          </a:ln>
        </p:spPr>
      </p:sp>
      <p:sp>
        <p:nvSpPr>
          <p:cNvPr id="18" name="Shape 16"/>
          <p:cNvSpPr/>
          <p:nvPr/>
        </p:nvSpPr>
        <p:spPr>
          <a:xfrm>
            <a:off x="8037576" y="2514600"/>
            <a:ext cx="3383280" cy="347472"/>
          </a:xfrm>
          <a:prstGeom prst="rect">
            <a:avLst/>
          </a:prstGeom>
          <a:solidFill>
            <a:srgbClr val="9B51E0"/>
          </a:solidFill>
          <a:ln w="12700">
            <a:solidFill>
              <a:srgbClr val="9B51E0"/>
            </a:solidFill>
            <a:prstDash val="solid"/>
          </a:ln>
        </p:spPr>
      </p:sp>
      <p:sp>
        <p:nvSpPr>
          <p:cNvPr id="19" name="Text 17"/>
          <p:cNvSpPr/>
          <p:nvPr/>
        </p:nvSpPr>
        <p:spPr>
          <a:xfrm>
            <a:off x="8174736" y="2606040"/>
            <a:ext cx="310896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Metoda</a:t>
            </a:r>
            <a:endParaRPr lang="en-US" sz="930" dirty="0"/>
          </a:p>
        </p:txBody>
      </p:sp>
      <p:sp>
        <p:nvSpPr>
          <p:cNvPr id="20" name="Text 18"/>
          <p:cNvSpPr/>
          <p:nvPr/>
        </p:nvSpPr>
        <p:spPr>
          <a:xfrm>
            <a:off x="8202168" y="2990088"/>
            <a:ext cx="3054096" cy="1856232"/>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Combinarea formulelor, experimentelor, hărților, surselor, conceptelor și modelelor digitale.</a:t>
            </a:r>
            <a:endParaRPr lang="en-US" sz="1500" dirty="0"/>
          </a:p>
        </p:txBody>
      </p:sp>
      <p:sp>
        <p:nvSpPr>
          <p:cNvPr id="21" name="Text 19"/>
          <p:cNvSpPr/>
          <p:nvPr/>
        </p:nvSpPr>
        <p:spPr>
          <a:xfrm>
            <a:off x="685800" y="6108192"/>
            <a:ext cx="10835640" cy="237744"/>
          </a:xfrm>
          <a:prstGeom prst="rect">
            <a:avLst/>
          </a:prstGeom>
          <a:noFill/>
          <a:ln/>
        </p:spPr>
        <p:txBody>
          <a:bodyPr wrap="square" lIns="0" tIns="0" rIns="0" bIns="0" rtlCol="0" anchor="ctr"/>
          <a:lstStyle/>
          <a:p>
            <a:pPr algn="ctr" indent="0" marL="0">
              <a:buNone/>
            </a:pPr>
            <a:r>
              <a:rPr lang="en-US" sz="820" i="1" dirty="0">
                <a:solidFill>
                  <a:srgbClr val="5B6777"/>
                </a:solidFill>
              </a:rPr>
              <a:t>Ideea de unitate: fiecare disciplină răspunde la „unde?”, „când?” și „în ce condiții?”.</a:t>
            </a:r>
            <a:endParaRPr lang="en-US" sz="8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Metodă</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Harta interdisciplinară: trei niveluri de analiză</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3</a:t>
            </a:r>
            <a:endParaRPr lang="en-US" sz="780" dirty="0"/>
          </a:p>
        </p:txBody>
      </p:sp>
      <p:sp>
        <p:nvSpPr>
          <p:cNvPr id="8" name="Shape 6"/>
          <p:cNvSpPr/>
          <p:nvPr/>
        </p:nvSpPr>
        <p:spPr>
          <a:xfrm>
            <a:off x="685800" y="1417320"/>
            <a:ext cx="3520440" cy="4297680"/>
          </a:xfrm>
          <a:prstGeom prst="roundRect">
            <a:avLst>
              <a:gd name="adj" fmla="val 2078"/>
            </a:avLst>
          </a:prstGeom>
          <a:solidFill>
            <a:srgbClr val="FFFFFF"/>
          </a:solidFill>
          <a:ln w="13970">
            <a:solidFill>
              <a:srgbClr val="2F80ED"/>
            </a:solidFill>
            <a:prstDash val="solid"/>
          </a:ln>
        </p:spPr>
      </p:sp>
      <p:sp>
        <p:nvSpPr>
          <p:cNvPr id="9" name="Shape 7"/>
          <p:cNvSpPr/>
          <p:nvPr/>
        </p:nvSpPr>
        <p:spPr>
          <a:xfrm>
            <a:off x="685800" y="1417320"/>
            <a:ext cx="3520440" cy="347472"/>
          </a:xfrm>
          <a:prstGeom prst="rect">
            <a:avLst/>
          </a:prstGeom>
          <a:solidFill>
            <a:srgbClr val="2F80ED"/>
          </a:solidFill>
          <a:ln w="12700">
            <a:solidFill>
              <a:srgbClr val="2F80ED"/>
            </a:solidFill>
            <a:prstDash val="solid"/>
          </a:ln>
        </p:spPr>
      </p:sp>
      <p:sp>
        <p:nvSpPr>
          <p:cNvPr id="10" name="Text 8"/>
          <p:cNvSpPr/>
          <p:nvPr/>
        </p:nvSpPr>
        <p:spPr>
          <a:xfrm>
            <a:off x="822960" y="1508760"/>
            <a:ext cx="324612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1. Măsurarea</a:t>
            </a:r>
            <a:endParaRPr lang="en-US" sz="930" dirty="0"/>
          </a:p>
        </p:txBody>
      </p:sp>
      <p:sp>
        <p:nvSpPr>
          <p:cNvPr id="11" name="Text 9"/>
          <p:cNvSpPr/>
          <p:nvPr/>
        </p:nvSpPr>
        <p:spPr>
          <a:xfrm>
            <a:off x="850392" y="1892808"/>
            <a:ext cx="3191256" cy="3730752"/>
          </a:xfrm>
          <a:prstGeom prst="rect">
            <a:avLst/>
          </a:prstGeom>
          <a:noFill/>
          <a:ln/>
        </p:spPr>
        <p:txBody>
          <a:bodyPr wrap="square" lIns="254" tIns="254" rIns="254" bIns="254" rtlCol="0" anchor="t">
            <a:normAutofit/>
          </a:bodyPr>
          <a:lstStyle/>
          <a:p>
            <a:pPr indent="0" marL="0">
              <a:buNone/>
            </a:pPr>
            <a:r>
              <a:rPr lang="en-US" sz="1600" dirty="0">
                <a:solidFill>
                  <a:srgbClr val="1F2937"/>
                </a:solidFill>
              </a:rPr>
              <a:t>Fizică</a:t>
            </a:r>
            <a:endParaRPr lang="en-US" sz="1600" dirty="0"/>
          </a:p>
          <a:p>
            <a:pPr indent="0" marL="0">
              <a:buNone/>
            </a:pPr>
            <a:r>
              <a:rPr lang="en-US" sz="1600" dirty="0">
                <a:solidFill>
                  <a:srgbClr val="1F2937"/>
                </a:solidFill>
              </a:rPr>
              <a:t>Chimie</a:t>
            </a:r>
            <a:endParaRPr lang="en-US" sz="1600" dirty="0"/>
          </a:p>
          <a:p>
            <a:pPr indent="0" marL="0">
              <a:buNone/>
            </a:pPr>
            <a:r>
              <a:rPr lang="en-US" sz="1600" dirty="0">
                <a:solidFill>
                  <a:srgbClr val="1F2937"/>
                </a:solidFill>
              </a:rPr>
              <a:t>Informatică</a:t>
            </a:r>
            <a:endParaRPr lang="en-US" sz="1600" dirty="0"/>
          </a:p>
          <a:p>
            <a:pPr indent="0" marL="0">
              <a:buNone/>
            </a:pPr>
            <a:endParaRPr lang="en-US" sz="1600" dirty="0"/>
          </a:p>
          <a:p>
            <a:pPr indent="0" marL="0">
              <a:buNone/>
            </a:pPr>
            <a:r>
              <a:rPr lang="en-US" sz="1600" dirty="0">
                <a:solidFill>
                  <a:srgbClr val="1F2937"/>
                </a:solidFill>
              </a:rPr>
              <a:t>Instrumente: formule, experimente, date, algoritmi.</a:t>
            </a:r>
            <a:endParaRPr lang="en-US" sz="1600" dirty="0"/>
          </a:p>
        </p:txBody>
      </p:sp>
      <p:sp>
        <p:nvSpPr>
          <p:cNvPr id="12" name="Shape 10"/>
          <p:cNvSpPr/>
          <p:nvPr/>
        </p:nvSpPr>
        <p:spPr>
          <a:xfrm>
            <a:off x="4617720" y="1417320"/>
            <a:ext cx="3520440" cy="4297680"/>
          </a:xfrm>
          <a:prstGeom prst="roundRect">
            <a:avLst>
              <a:gd name="adj" fmla="val 2078"/>
            </a:avLst>
          </a:prstGeom>
          <a:solidFill>
            <a:srgbClr val="FFFFFF"/>
          </a:solidFill>
          <a:ln w="13970">
            <a:solidFill>
              <a:srgbClr val="27AE60"/>
            </a:solidFill>
            <a:prstDash val="solid"/>
          </a:ln>
        </p:spPr>
      </p:sp>
      <p:sp>
        <p:nvSpPr>
          <p:cNvPr id="13" name="Shape 11"/>
          <p:cNvSpPr/>
          <p:nvPr/>
        </p:nvSpPr>
        <p:spPr>
          <a:xfrm>
            <a:off x="4617720" y="1417320"/>
            <a:ext cx="3520440" cy="347472"/>
          </a:xfrm>
          <a:prstGeom prst="rect">
            <a:avLst/>
          </a:prstGeom>
          <a:solidFill>
            <a:srgbClr val="27AE60"/>
          </a:solidFill>
          <a:ln w="12700">
            <a:solidFill>
              <a:srgbClr val="27AE60"/>
            </a:solidFill>
            <a:prstDash val="solid"/>
          </a:ln>
        </p:spPr>
      </p:sp>
      <p:sp>
        <p:nvSpPr>
          <p:cNvPr id="14" name="Text 12"/>
          <p:cNvSpPr/>
          <p:nvPr/>
        </p:nvSpPr>
        <p:spPr>
          <a:xfrm>
            <a:off x="4754880" y="1508760"/>
            <a:ext cx="324612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2. Experiența</a:t>
            </a:r>
            <a:endParaRPr lang="en-US" sz="930" dirty="0"/>
          </a:p>
        </p:txBody>
      </p:sp>
      <p:sp>
        <p:nvSpPr>
          <p:cNvPr id="15" name="Text 13"/>
          <p:cNvSpPr/>
          <p:nvPr/>
        </p:nvSpPr>
        <p:spPr>
          <a:xfrm>
            <a:off x="4782312" y="1892808"/>
            <a:ext cx="3191256" cy="3730752"/>
          </a:xfrm>
          <a:prstGeom prst="rect">
            <a:avLst/>
          </a:prstGeom>
          <a:noFill/>
          <a:ln/>
        </p:spPr>
        <p:txBody>
          <a:bodyPr wrap="square" lIns="254" tIns="254" rIns="254" bIns="254" rtlCol="0" anchor="t">
            <a:normAutofit/>
          </a:bodyPr>
          <a:lstStyle/>
          <a:p>
            <a:pPr indent="0" marL="0">
              <a:buNone/>
            </a:pPr>
            <a:r>
              <a:rPr lang="en-US" sz="1600" dirty="0">
                <a:solidFill>
                  <a:srgbClr val="1F2937"/>
                </a:solidFill>
              </a:rPr>
              <a:t>Biologie</a:t>
            </a:r>
            <a:endParaRPr lang="en-US" sz="1600" dirty="0"/>
          </a:p>
          <a:p>
            <a:pPr indent="0" marL="0">
              <a:buNone/>
            </a:pPr>
            <a:r>
              <a:rPr lang="en-US" sz="1600" dirty="0">
                <a:solidFill>
                  <a:srgbClr val="1F2937"/>
                </a:solidFill>
              </a:rPr>
              <a:t>Istorie</a:t>
            </a:r>
            <a:endParaRPr lang="en-US" sz="1600" dirty="0"/>
          </a:p>
          <a:p>
            <a:pPr indent="0" marL="0">
              <a:buNone/>
            </a:pPr>
            <a:r>
              <a:rPr lang="en-US" sz="1600" dirty="0">
                <a:solidFill>
                  <a:srgbClr val="1F2937"/>
                </a:solidFill>
              </a:rPr>
              <a:t>Geografie</a:t>
            </a:r>
            <a:endParaRPr lang="en-US" sz="1600" dirty="0"/>
          </a:p>
          <a:p>
            <a:pPr indent="0" marL="0">
              <a:buNone/>
            </a:pPr>
            <a:endParaRPr lang="en-US" sz="1600" dirty="0"/>
          </a:p>
          <a:p>
            <a:pPr indent="0" marL="0">
              <a:buNone/>
            </a:pPr>
            <a:r>
              <a:rPr lang="en-US" sz="1600" dirty="0">
                <a:solidFill>
                  <a:srgbClr val="1F2937"/>
                </a:solidFill>
              </a:rPr>
              <a:t>Instrumente: organisme, societăți, teritorii, hărți.</a:t>
            </a:r>
            <a:endParaRPr lang="en-US" sz="1600" dirty="0"/>
          </a:p>
        </p:txBody>
      </p:sp>
      <p:sp>
        <p:nvSpPr>
          <p:cNvPr id="16" name="Shape 14"/>
          <p:cNvSpPr/>
          <p:nvPr/>
        </p:nvSpPr>
        <p:spPr>
          <a:xfrm>
            <a:off x="8549640" y="1417320"/>
            <a:ext cx="3520440" cy="4297680"/>
          </a:xfrm>
          <a:prstGeom prst="roundRect">
            <a:avLst>
              <a:gd name="adj" fmla="val 2078"/>
            </a:avLst>
          </a:prstGeom>
          <a:solidFill>
            <a:srgbClr val="FFFFFF"/>
          </a:solidFill>
          <a:ln w="13970">
            <a:solidFill>
              <a:srgbClr val="9B51E0"/>
            </a:solidFill>
            <a:prstDash val="solid"/>
          </a:ln>
        </p:spPr>
      </p:sp>
      <p:sp>
        <p:nvSpPr>
          <p:cNvPr id="17" name="Shape 15"/>
          <p:cNvSpPr/>
          <p:nvPr/>
        </p:nvSpPr>
        <p:spPr>
          <a:xfrm>
            <a:off x="8549640" y="1417320"/>
            <a:ext cx="3520440" cy="347472"/>
          </a:xfrm>
          <a:prstGeom prst="rect">
            <a:avLst/>
          </a:prstGeom>
          <a:solidFill>
            <a:srgbClr val="9B51E0"/>
          </a:solidFill>
          <a:ln w="12700">
            <a:solidFill>
              <a:srgbClr val="9B51E0"/>
            </a:solidFill>
            <a:prstDash val="solid"/>
          </a:ln>
        </p:spPr>
      </p:sp>
      <p:sp>
        <p:nvSpPr>
          <p:cNvPr id="18" name="Text 16"/>
          <p:cNvSpPr/>
          <p:nvPr/>
        </p:nvSpPr>
        <p:spPr>
          <a:xfrm>
            <a:off x="8686800" y="1508760"/>
            <a:ext cx="324612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3. Interpretarea</a:t>
            </a:r>
            <a:endParaRPr lang="en-US" sz="930" dirty="0"/>
          </a:p>
        </p:txBody>
      </p:sp>
      <p:sp>
        <p:nvSpPr>
          <p:cNvPr id="19" name="Text 17"/>
          <p:cNvSpPr/>
          <p:nvPr/>
        </p:nvSpPr>
        <p:spPr>
          <a:xfrm>
            <a:off x="8714232" y="1892808"/>
            <a:ext cx="3191256" cy="3730752"/>
          </a:xfrm>
          <a:prstGeom prst="rect">
            <a:avLst/>
          </a:prstGeom>
          <a:noFill/>
          <a:ln/>
        </p:spPr>
        <p:txBody>
          <a:bodyPr wrap="square" lIns="254" tIns="254" rIns="254" bIns="254" rtlCol="0" anchor="t">
            <a:normAutofit/>
          </a:bodyPr>
          <a:lstStyle/>
          <a:p>
            <a:pPr indent="0" marL="0">
              <a:buNone/>
            </a:pPr>
            <a:r>
              <a:rPr lang="en-US" sz="1600" dirty="0">
                <a:solidFill>
                  <a:srgbClr val="1F2937"/>
                </a:solidFill>
              </a:rPr>
              <a:t>Filosofie</a:t>
            </a:r>
            <a:endParaRPr lang="en-US" sz="1600" dirty="0"/>
          </a:p>
          <a:p>
            <a:pPr indent="0" marL="0">
              <a:buNone/>
            </a:pPr>
            <a:r>
              <a:rPr lang="en-US" sz="1600" dirty="0">
                <a:solidFill>
                  <a:srgbClr val="1F2937"/>
                </a:solidFill>
              </a:rPr>
              <a:t>Religie</a:t>
            </a:r>
            <a:endParaRPr lang="en-US" sz="1600" dirty="0"/>
          </a:p>
          <a:p>
            <a:pPr indent="0" marL="0">
              <a:buNone/>
            </a:pPr>
            <a:endParaRPr lang="en-US" sz="1600" dirty="0"/>
          </a:p>
          <a:p>
            <a:pPr indent="0" marL="0">
              <a:buNone/>
            </a:pPr>
            <a:r>
              <a:rPr lang="en-US" sz="1600" dirty="0">
                <a:solidFill>
                  <a:srgbClr val="1F2937"/>
                </a:solidFill>
              </a:rPr>
              <a:t>Instrumente: concepte, valori, memorie, comuniune.</a:t>
            </a:r>
            <a:endParaRPr lang="en-US" sz="1600" dirty="0"/>
          </a:p>
        </p:txBody>
      </p:sp>
      <p:sp>
        <p:nvSpPr>
          <p:cNvPr id="20" name="Shape 18"/>
          <p:cNvSpPr/>
          <p:nvPr/>
        </p:nvSpPr>
        <p:spPr>
          <a:xfrm>
            <a:off x="4096512" y="3246120"/>
            <a:ext cx="457200" cy="320040"/>
          </a:xfrm>
          <a:prstGeom prst="rightArrow">
            <a:avLst/>
          </a:prstGeom>
          <a:solidFill>
            <a:srgbClr val="E8EEF5"/>
          </a:solidFill>
          <a:ln w="12700">
            <a:solidFill>
              <a:srgbClr val="E8EEF5"/>
            </a:solidFill>
            <a:prstDash val="solid"/>
          </a:ln>
        </p:spPr>
      </p:sp>
      <p:sp>
        <p:nvSpPr>
          <p:cNvPr id="21" name="Shape 19"/>
          <p:cNvSpPr/>
          <p:nvPr/>
        </p:nvSpPr>
        <p:spPr>
          <a:xfrm>
            <a:off x="8028432" y="3246120"/>
            <a:ext cx="457200" cy="320040"/>
          </a:xfrm>
          <a:prstGeom prst="rightArrow">
            <a:avLst/>
          </a:prstGeom>
          <a:solidFill>
            <a:srgbClr val="E8EEF5"/>
          </a:solidFill>
          <a:ln w="12700">
            <a:solidFill>
              <a:srgbClr val="E8EEF5"/>
            </a:solidFill>
            <a:prstDash val="solid"/>
          </a:ln>
        </p:spPr>
      </p:sp>
      <p:sp>
        <p:nvSpPr>
          <p:cNvPr id="22" name="Text 20"/>
          <p:cNvSpPr/>
          <p:nvPr/>
        </p:nvSpPr>
        <p:spPr>
          <a:xfrm>
            <a:off x="685800" y="6108192"/>
            <a:ext cx="10835640" cy="237744"/>
          </a:xfrm>
          <a:prstGeom prst="rect">
            <a:avLst/>
          </a:prstGeom>
          <a:noFill/>
          <a:ln/>
        </p:spPr>
        <p:txBody>
          <a:bodyPr wrap="square" lIns="0" tIns="0" rIns="0" bIns="0" rtlCol="0" anchor="ctr"/>
          <a:lstStyle/>
          <a:p>
            <a:pPr algn="ctr" indent="0" marL="0">
              <a:buNone/>
            </a:pPr>
            <a:r>
              <a:rPr lang="en-US" sz="820" i="1" dirty="0">
                <a:solidFill>
                  <a:srgbClr val="5B6777"/>
                </a:solidFill>
              </a:rPr>
              <a:t>Lucrarea trece de la cuantificare la experiență și apoi la sens.</a:t>
            </a:r>
            <a:endParaRPr lang="en-US" sz="8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2.1 Fizică</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Fizică: mecanica clasică versus relativitatea</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4</a:t>
            </a:r>
            <a:endParaRPr lang="en-US" sz="780" dirty="0"/>
          </a:p>
        </p:txBody>
      </p:sp>
      <p:sp>
        <p:nvSpPr>
          <p:cNvPr id="8" name="Shape 6"/>
          <p:cNvSpPr/>
          <p:nvPr/>
        </p:nvSpPr>
        <p:spPr>
          <a:xfrm>
            <a:off x="685800" y="1417320"/>
            <a:ext cx="5303520" cy="2971800"/>
          </a:xfrm>
          <a:prstGeom prst="roundRect">
            <a:avLst>
              <a:gd name="adj" fmla="val 2462"/>
            </a:avLst>
          </a:prstGeom>
          <a:solidFill>
            <a:srgbClr val="FFFFFF"/>
          </a:solidFill>
          <a:ln w="13970">
            <a:solidFill>
              <a:srgbClr val="2F80ED"/>
            </a:solidFill>
            <a:prstDash val="solid"/>
          </a:ln>
        </p:spPr>
      </p:sp>
      <p:sp>
        <p:nvSpPr>
          <p:cNvPr id="9" name="Shape 7"/>
          <p:cNvSpPr/>
          <p:nvPr/>
        </p:nvSpPr>
        <p:spPr>
          <a:xfrm>
            <a:off x="685800" y="1417320"/>
            <a:ext cx="5303520" cy="347472"/>
          </a:xfrm>
          <a:prstGeom prst="rect">
            <a:avLst/>
          </a:prstGeom>
          <a:solidFill>
            <a:srgbClr val="2F80ED"/>
          </a:solidFill>
          <a:ln w="12700">
            <a:solidFill>
              <a:srgbClr val="2F80ED"/>
            </a:solidFill>
            <a:prstDash val="solid"/>
          </a:ln>
        </p:spPr>
      </p:sp>
      <p:sp>
        <p:nvSpPr>
          <p:cNvPr id="10" name="Text 8"/>
          <p:cNvSpPr/>
          <p:nvPr/>
        </p:nvSpPr>
        <p:spPr>
          <a:xfrm>
            <a:off x="822960" y="1508760"/>
            <a:ext cx="502920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Mecanica clasică</a:t>
            </a:r>
            <a:endParaRPr lang="en-US" sz="930" dirty="0"/>
          </a:p>
        </p:txBody>
      </p:sp>
      <p:sp>
        <p:nvSpPr>
          <p:cNvPr id="11" name="Text 9"/>
          <p:cNvSpPr/>
          <p:nvPr/>
        </p:nvSpPr>
        <p:spPr>
          <a:xfrm>
            <a:off x="850392" y="1892808"/>
            <a:ext cx="4974336" cy="2404872"/>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 timpul este tratat ca universal</a:t>
            </a:r>
            <a:endParaRPr lang="en-US" sz="1500" dirty="0"/>
          </a:p>
          <a:p>
            <a:pPr indent="0" marL="0">
              <a:buNone/>
            </a:pPr>
            <a:r>
              <a:rPr lang="en-US" sz="1500" dirty="0">
                <a:solidFill>
                  <a:srgbClr val="1F2937"/>
                </a:solidFill>
              </a:rPr>
              <a:t>• spațiul și timpul sunt cadre separate</a:t>
            </a:r>
            <a:endParaRPr lang="en-US" sz="1500" dirty="0"/>
          </a:p>
          <a:p>
            <a:pPr indent="0" marL="0">
              <a:buNone/>
            </a:pPr>
            <a:r>
              <a:rPr lang="en-US" sz="1500" dirty="0">
                <a:solidFill>
                  <a:srgbClr val="1F2937"/>
                </a:solidFill>
              </a:rPr>
              <a:t>• transformări galileene</a:t>
            </a:r>
            <a:endParaRPr lang="en-US" sz="1500" dirty="0"/>
          </a:p>
          <a:p>
            <a:pPr indent="0" marL="0">
              <a:buNone/>
            </a:pPr>
            <a:r>
              <a:rPr lang="en-US" sz="1500" dirty="0">
                <a:solidFill>
                  <a:srgbClr val="1F2937"/>
                </a:solidFill>
              </a:rPr>
              <a:t>• rezultate foarte bune la viteze mici</a:t>
            </a:r>
            <a:endParaRPr lang="en-US" sz="1500" dirty="0"/>
          </a:p>
        </p:txBody>
      </p:sp>
      <p:sp>
        <p:nvSpPr>
          <p:cNvPr id="12" name="Shape 10"/>
          <p:cNvSpPr/>
          <p:nvPr/>
        </p:nvSpPr>
        <p:spPr>
          <a:xfrm>
            <a:off x="6199632" y="1417320"/>
            <a:ext cx="5303520" cy="2971800"/>
          </a:xfrm>
          <a:prstGeom prst="roundRect">
            <a:avLst>
              <a:gd name="adj" fmla="val 2462"/>
            </a:avLst>
          </a:prstGeom>
          <a:solidFill>
            <a:srgbClr val="FFFFFF"/>
          </a:solidFill>
          <a:ln w="13970">
            <a:solidFill>
              <a:srgbClr val="24A19C"/>
            </a:solidFill>
            <a:prstDash val="solid"/>
          </a:ln>
        </p:spPr>
      </p:sp>
      <p:sp>
        <p:nvSpPr>
          <p:cNvPr id="13" name="Shape 11"/>
          <p:cNvSpPr/>
          <p:nvPr/>
        </p:nvSpPr>
        <p:spPr>
          <a:xfrm>
            <a:off x="6199632" y="1417320"/>
            <a:ext cx="5303520" cy="347472"/>
          </a:xfrm>
          <a:prstGeom prst="rect">
            <a:avLst/>
          </a:prstGeom>
          <a:solidFill>
            <a:srgbClr val="24A19C"/>
          </a:solidFill>
          <a:ln w="12700">
            <a:solidFill>
              <a:srgbClr val="24A19C"/>
            </a:solidFill>
            <a:prstDash val="solid"/>
          </a:ln>
        </p:spPr>
      </p:sp>
      <p:sp>
        <p:nvSpPr>
          <p:cNvPr id="14" name="Text 12"/>
          <p:cNvSpPr/>
          <p:nvPr/>
        </p:nvSpPr>
        <p:spPr>
          <a:xfrm>
            <a:off x="6336792" y="1508760"/>
            <a:ext cx="502920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Relativitatea restrânsă</a:t>
            </a:r>
            <a:endParaRPr lang="en-US" sz="930" dirty="0"/>
          </a:p>
        </p:txBody>
      </p:sp>
      <p:sp>
        <p:nvSpPr>
          <p:cNvPr id="15" name="Text 13"/>
          <p:cNvSpPr/>
          <p:nvPr/>
        </p:nvSpPr>
        <p:spPr>
          <a:xfrm>
            <a:off x="6364224" y="1892808"/>
            <a:ext cx="4974336" cy="2404872"/>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 viteza luminii este invariantă</a:t>
            </a:r>
            <a:endParaRPr lang="en-US" sz="1500" dirty="0"/>
          </a:p>
          <a:p>
            <a:pPr indent="0" marL="0">
              <a:buNone/>
            </a:pPr>
            <a:r>
              <a:rPr lang="en-US" sz="1500" dirty="0">
                <a:solidFill>
                  <a:srgbClr val="1F2937"/>
                </a:solidFill>
              </a:rPr>
              <a:t>• simultaneitatea poate fi relativă</a:t>
            </a:r>
            <a:endParaRPr lang="en-US" sz="1500" dirty="0"/>
          </a:p>
          <a:p>
            <a:pPr indent="0" marL="0">
              <a:buNone/>
            </a:pPr>
            <a:r>
              <a:rPr lang="en-US" sz="1500" dirty="0">
                <a:solidFill>
                  <a:srgbClr val="1F2937"/>
                </a:solidFill>
              </a:rPr>
              <a:t>• spațiul și timpul formează spațiu-timp</a:t>
            </a:r>
            <a:endParaRPr lang="en-US" sz="1500" dirty="0"/>
          </a:p>
          <a:p>
            <a:pPr indent="0" marL="0">
              <a:buNone/>
            </a:pPr>
            <a:r>
              <a:rPr lang="en-US" sz="1500" dirty="0">
                <a:solidFill>
                  <a:srgbClr val="1F2937"/>
                </a:solidFill>
              </a:rPr>
              <a:t>• necesară la viteze mari și măsurători precise</a:t>
            </a:r>
            <a:endParaRPr lang="en-US" sz="1500" dirty="0"/>
          </a:p>
        </p:txBody>
      </p:sp>
      <p:sp>
        <p:nvSpPr>
          <p:cNvPr id="16" name="Shape 14"/>
          <p:cNvSpPr/>
          <p:nvPr/>
        </p:nvSpPr>
        <p:spPr>
          <a:xfrm>
            <a:off x="1874520" y="4800600"/>
            <a:ext cx="8458200" cy="685800"/>
          </a:xfrm>
          <a:prstGeom prst="roundRect">
            <a:avLst/>
          </a:prstGeom>
          <a:solidFill>
            <a:srgbClr val="FFFFFF"/>
          </a:solidFill>
          <a:ln w="12700">
            <a:solidFill>
              <a:srgbClr val="D1DAE6"/>
            </a:solidFill>
            <a:prstDash val="solid"/>
          </a:ln>
        </p:spPr>
      </p:sp>
      <p:sp>
        <p:nvSpPr>
          <p:cNvPr id="17" name="Text 15"/>
          <p:cNvSpPr/>
          <p:nvPr/>
        </p:nvSpPr>
        <p:spPr>
          <a:xfrm>
            <a:off x="2057400" y="4992624"/>
            <a:ext cx="8092440" cy="228600"/>
          </a:xfrm>
          <a:prstGeom prst="rect">
            <a:avLst/>
          </a:prstGeom>
          <a:noFill/>
          <a:ln/>
        </p:spPr>
        <p:txBody>
          <a:bodyPr wrap="square" lIns="0" tIns="0" rIns="0" bIns="0" rtlCol="0" anchor="ctr"/>
          <a:lstStyle/>
          <a:p>
            <a:pPr algn="ctr" indent="0" marL="0">
              <a:buNone/>
            </a:pPr>
            <a:r>
              <a:rPr lang="en-US" sz="1800" b="1" dirty="0">
                <a:solidFill>
                  <a:srgbClr val="0B1F33"/>
                </a:solidFill>
              </a:rPr>
              <a:t>Idee-cheie: măsurarea depinde de sistemul de referință.</a:t>
            </a:r>
            <a:endParaRPr lang="en-US" sz="1800" dirty="0"/>
          </a:p>
        </p:txBody>
      </p:sp>
      <p:sp>
        <p:nvSpPr>
          <p:cNvPr id="18" name="Text 16"/>
          <p:cNvSpPr/>
          <p:nvPr/>
        </p:nvSpPr>
        <p:spPr>
          <a:xfrm>
            <a:off x="685800" y="6108192"/>
            <a:ext cx="10835640" cy="237744"/>
          </a:xfrm>
          <a:prstGeom prst="rect">
            <a:avLst/>
          </a:prstGeom>
          <a:noFill/>
          <a:ln/>
        </p:spPr>
        <p:txBody>
          <a:bodyPr wrap="square" lIns="0" tIns="0" rIns="0" bIns="0" rtlCol="0" anchor="ctr"/>
          <a:lstStyle/>
          <a:p>
            <a:pPr algn="ctr" indent="0" marL="0">
              <a:buNone/>
            </a:pPr>
            <a:r>
              <a:rPr lang="en-US" sz="820" i="1" dirty="0">
                <a:solidFill>
                  <a:srgbClr val="5B6777"/>
                </a:solidFill>
              </a:rPr>
              <a:t>Formulă orientativă: s² = c²Δt² – Δx² – Δy² – Δz².</a:t>
            </a:r>
            <a:endParaRPr lang="en-US" sz="8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2.2 Chimie</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Chimie: timpul reacțiilor și viteza de transformare</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5</a:t>
            </a:r>
            <a:endParaRPr lang="en-US" sz="780" dirty="0"/>
          </a:p>
        </p:txBody>
      </p:sp>
      <p:sp>
        <p:nvSpPr>
          <p:cNvPr id="8" name="Shape 6"/>
          <p:cNvSpPr/>
          <p:nvPr/>
        </p:nvSpPr>
        <p:spPr>
          <a:xfrm>
            <a:off x="777240" y="1417320"/>
            <a:ext cx="3657600" cy="960120"/>
          </a:xfrm>
          <a:prstGeom prst="roundRect">
            <a:avLst/>
          </a:prstGeom>
          <a:solidFill>
            <a:srgbClr val="FFFFFF"/>
          </a:solidFill>
          <a:ln w="15240">
            <a:solidFill>
              <a:srgbClr val="2F80ED"/>
            </a:solidFill>
            <a:prstDash val="solid"/>
          </a:ln>
        </p:spPr>
      </p:sp>
      <p:sp>
        <p:nvSpPr>
          <p:cNvPr id="9" name="Text 7"/>
          <p:cNvSpPr/>
          <p:nvPr/>
        </p:nvSpPr>
        <p:spPr>
          <a:xfrm>
            <a:off x="1143000" y="1645920"/>
            <a:ext cx="2926080" cy="292608"/>
          </a:xfrm>
          <a:prstGeom prst="rect">
            <a:avLst/>
          </a:prstGeom>
          <a:noFill/>
          <a:ln/>
        </p:spPr>
        <p:txBody>
          <a:bodyPr wrap="square" lIns="0" tIns="0" rIns="0" bIns="0" rtlCol="0" anchor="ctr"/>
          <a:lstStyle/>
          <a:p>
            <a:pPr algn="ctr" indent="0" marL="0">
              <a:buNone/>
            </a:pPr>
            <a:r>
              <a:rPr lang="en-US" sz="2600" b="1" dirty="0">
                <a:solidFill>
                  <a:srgbClr val="0B1F33"/>
                </a:solidFill>
              </a:rPr>
              <a:t>v = Δc / Δt</a:t>
            </a:r>
            <a:endParaRPr lang="en-US" sz="2600" dirty="0"/>
          </a:p>
        </p:txBody>
      </p:sp>
      <p:sp>
        <p:nvSpPr>
          <p:cNvPr id="10" name="Text 8"/>
          <p:cNvSpPr/>
          <p:nvPr/>
        </p:nvSpPr>
        <p:spPr>
          <a:xfrm>
            <a:off x="1143000" y="1975104"/>
            <a:ext cx="2926080" cy="201168"/>
          </a:xfrm>
          <a:prstGeom prst="rect">
            <a:avLst/>
          </a:prstGeom>
          <a:noFill/>
          <a:ln/>
        </p:spPr>
        <p:txBody>
          <a:bodyPr wrap="square" lIns="0" tIns="0" rIns="0" bIns="0" rtlCol="0" anchor="ctr"/>
          <a:lstStyle/>
          <a:p>
            <a:pPr algn="ctr" indent="0" marL="0">
              <a:buNone/>
            </a:pPr>
            <a:r>
              <a:rPr lang="en-US" sz="1400" dirty="0">
                <a:solidFill>
                  <a:srgbClr val="5B6777"/>
                </a:solidFill>
              </a:rPr>
              <a:t>v = k[A]^m[B]^n</a:t>
            </a:r>
            <a:endParaRPr lang="en-US" sz="1400" dirty="0"/>
          </a:p>
        </p:txBody>
      </p:sp>
      <p:sp>
        <p:nvSpPr>
          <p:cNvPr id="11" name="Shape 9"/>
          <p:cNvSpPr/>
          <p:nvPr/>
        </p:nvSpPr>
        <p:spPr>
          <a:xfrm>
            <a:off x="4800600" y="1207008"/>
            <a:ext cx="2971800" cy="1417320"/>
          </a:xfrm>
          <a:prstGeom prst="roundRect">
            <a:avLst>
              <a:gd name="adj" fmla="val 5161"/>
            </a:avLst>
          </a:prstGeom>
          <a:solidFill>
            <a:srgbClr val="FFFFFF"/>
          </a:solidFill>
          <a:ln w="13970">
            <a:solidFill>
              <a:srgbClr val="EB5757"/>
            </a:solidFill>
            <a:prstDash val="solid"/>
          </a:ln>
        </p:spPr>
      </p:sp>
      <p:sp>
        <p:nvSpPr>
          <p:cNvPr id="12" name="Shape 10"/>
          <p:cNvSpPr/>
          <p:nvPr/>
        </p:nvSpPr>
        <p:spPr>
          <a:xfrm>
            <a:off x="4800600" y="1207008"/>
            <a:ext cx="2971800" cy="347472"/>
          </a:xfrm>
          <a:prstGeom prst="rect">
            <a:avLst/>
          </a:prstGeom>
          <a:solidFill>
            <a:srgbClr val="EB5757"/>
          </a:solidFill>
          <a:ln w="12700">
            <a:solidFill>
              <a:srgbClr val="EB5757"/>
            </a:solidFill>
            <a:prstDash val="solid"/>
          </a:ln>
        </p:spPr>
      </p:sp>
      <p:sp>
        <p:nvSpPr>
          <p:cNvPr id="13" name="Text 11"/>
          <p:cNvSpPr/>
          <p:nvPr/>
        </p:nvSpPr>
        <p:spPr>
          <a:xfrm>
            <a:off x="4937760" y="1298448"/>
            <a:ext cx="269748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Temperatura</a:t>
            </a:r>
            <a:endParaRPr lang="en-US" sz="930" dirty="0"/>
          </a:p>
        </p:txBody>
      </p:sp>
      <p:sp>
        <p:nvSpPr>
          <p:cNvPr id="14" name="Text 12"/>
          <p:cNvSpPr/>
          <p:nvPr/>
        </p:nvSpPr>
        <p:spPr>
          <a:xfrm>
            <a:off x="4965192" y="1682496"/>
            <a:ext cx="2642616" cy="850392"/>
          </a:xfrm>
          <a:prstGeom prst="rect">
            <a:avLst/>
          </a:prstGeom>
          <a:noFill/>
          <a:ln/>
        </p:spPr>
        <p:txBody>
          <a:bodyPr wrap="square" lIns="254" tIns="254" rIns="254" bIns="254" rtlCol="0" anchor="t">
            <a:normAutofit/>
          </a:bodyPr>
          <a:lstStyle/>
          <a:p>
            <a:pPr indent="0" marL="0">
              <a:buNone/>
            </a:pPr>
            <a:r>
              <a:rPr lang="en-US" sz="1200" dirty="0">
                <a:solidFill>
                  <a:srgbClr val="1F2937"/>
                </a:solidFill>
              </a:rPr>
              <a:t>energie cinetică mai mare</a:t>
            </a:r>
            <a:endParaRPr lang="en-US" sz="1200" dirty="0"/>
          </a:p>
          <a:p>
            <a:pPr indent="0" marL="0">
              <a:buNone/>
            </a:pPr>
            <a:r>
              <a:rPr lang="en-US" sz="1200" dirty="0">
                <a:solidFill>
                  <a:srgbClr val="1F2937"/>
                </a:solidFill>
              </a:rPr>
              <a:t>→ ciocniri eficiente</a:t>
            </a:r>
            <a:endParaRPr lang="en-US" sz="1200" dirty="0"/>
          </a:p>
        </p:txBody>
      </p:sp>
      <p:sp>
        <p:nvSpPr>
          <p:cNvPr id="15" name="Shape 13"/>
          <p:cNvSpPr/>
          <p:nvPr/>
        </p:nvSpPr>
        <p:spPr>
          <a:xfrm>
            <a:off x="8092440" y="1207008"/>
            <a:ext cx="2971800" cy="1417320"/>
          </a:xfrm>
          <a:prstGeom prst="roundRect">
            <a:avLst>
              <a:gd name="adj" fmla="val 5161"/>
            </a:avLst>
          </a:prstGeom>
          <a:solidFill>
            <a:srgbClr val="FFFFFF"/>
          </a:solidFill>
          <a:ln w="13970">
            <a:solidFill>
              <a:srgbClr val="F2C94C"/>
            </a:solidFill>
            <a:prstDash val="solid"/>
          </a:ln>
        </p:spPr>
      </p:sp>
      <p:sp>
        <p:nvSpPr>
          <p:cNvPr id="16" name="Shape 14"/>
          <p:cNvSpPr/>
          <p:nvPr/>
        </p:nvSpPr>
        <p:spPr>
          <a:xfrm>
            <a:off x="8092440" y="1207008"/>
            <a:ext cx="2971800" cy="347472"/>
          </a:xfrm>
          <a:prstGeom prst="rect">
            <a:avLst/>
          </a:prstGeom>
          <a:solidFill>
            <a:srgbClr val="F2C94C"/>
          </a:solidFill>
          <a:ln w="12700">
            <a:solidFill>
              <a:srgbClr val="F2C94C"/>
            </a:solidFill>
            <a:prstDash val="solid"/>
          </a:ln>
        </p:spPr>
      </p:sp>
      <p:sp>
        <p:nvSpPr>
          <p:cNvPr id="17" name="Text 15"/>
          <p:cNvSpPr/>
          <p:nvPr/>
        </p:nvSpPr>
        <p:spPr>
          <a:xfrm>
            <a:off x="8229600" y="1298448"/>
            <a:ext cx="269748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Concentrația</a:t>
            </a:r>
            <a:endParaRPr lang="en-US" sz="930" dirty="0"/>
          </a:p>
        </p:txBody>
      </p:sp>
      <p:sp>
        <p:nvSpPr>
          <p:cNvPr id="18" name="Text 16"/>
          <p:cNvSpPr/>
          <p:nvPr/>
        </p:nvSpPr>
        <p:spPr>
          <a:xfrm>
            <a:off x="8257032" y="1682496"/>
            <a:ext cx="2642616" cy="850392"/>
          </a:xfrm>
          <a:prstGeom prst="rect">
            <a:avLst/>
          </a:prstGeom>
          <a:noFill/>
          <a:ln/>
        </p:spPr>
        <p:txBody>
          <a:bodyPr wrap="square" lIns="254" tIns="254" rIns="254" bIns="254" rtlCol="0" anchor="t">
            <a:normAutofit/>
          </a:bodyPr>
          <a:lstStyle/>
          <a:p>
            <a:pPr indent="0" marL="0">
              <a:buNone/>
            </a:pPr>
            <a:r>
              <a:rPr lang="en-US" sz="1200" dirty="0">
                <a:solidFill>
                  <a:srgbClr val="1F2937"/>
                </a:solidFill>
              </a:rPr>
              <a:t>mai multe particule</a:t>
            </a:r>
            <a:endParaRPr lang="en-US" sz="1200" dirty="0"/>
          </a:p>
          <a:p>
            <a:pPr indent="0" marL="0">
              <a:buNone/>
            </a:pPr>
            <a:r>
              <a:rPr lang="en-US" sz="1200" dirty="0">
                <a:solidFill>
                  <a:srgbClr val="1F2937"/>
                </a:solidFill>
              </a:rPr>
              <a:t>→ întâlniri mai frecvente</a:t>
            </a:r>
            <a:endParaRPr lang="en-US" sz="1200" dirty="0"/>
          </a:p>
        </p:txBody>
      </p:sp>
      <p:sp>
        <p:nvSpPr>
          <p:cNvPr id="19" name="Shape 17"/>
          <p:cNvSpPr/>
          <p:nvPr/>
        </p:nvSpPr>
        <p:spPr>
          <a:xfrm>
            <a:off x="4800600" y="2971800"/>
            <a:ext cx="2971800" cy="1417320"/>
          </a:xfrm>
          <a:prstGeom prst="roundRect">
            <a:avLst>
              <a:gd name="adj" fmla="val 5161"/>
            </a:avLst>
          </a:prstGeom>
          <a:solidFill>
            <a:srgbClr val="FFFFFF"/>
          </a:solidFill>
          <a:ln w="13970">
            <a:solidFill>
              <a:srgbClr val="27AE60"/>
            </a:solidFill>
            <a:prstDash val="solid"/>
          </a:ln>
        </p:spPr>
      </p:sp>
      <p:sp>
        <p:nvSpPr>
          <p:cNvPr id="20" name="Shape 18"/>
          <p:cNvSpPr/>
          <p:nvPr/>
        </p:nvSpPr>
        <p:spPr>
          <a:xfrm>
            <a:off x="4800600" y="2971800"/>
            <a:ext cx="2971800" cy="347472"/>
          </a:xfrm>
          <a:prstGeom prst="rect">
            <a:avLst/>
          </a:prstGeom>
          <a:solidFill>
            <a:srgbClr val="27AE60"/>
          </a:solidFill>
          <a:ln w="12700">
            <a:solidFill>
              <a:srgbClr val="27AE60"/>
            </a:solidFill>
            <a:prstDash val="solid"/>
          </a:ln>
        </p:spPr>
      </p:sp>
      <p:sp>
        <p:nvSpPr>
          <p:cNvPr id="21" name="Text 19"/>
          <p:cNvSpPr/>
          <p:nvPr/>
        </p:nvSpPr>
        <p:spPr>
          <a:xfrm>
            <a:off x="4937760" y="3063240"/>
            <a:ext cx="269748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Suprafața</a:t>
            </a:r>
            <a:endParaRPr lang="en-US" sz="930" dirty="0"/>
          </a:p>
        </p:txBody>
      </p:sp>
      <p:sp>
        <p:nvSpPr>
          <p:cNvPr id="22" name="Text 20"/>
          <p:cNvSpPr/>
          <p:nvPr/>
        </p:nvSpPr>
        <p:spPr>
          <a:xfrm>
            <a:off x="4965192" y="3447288"/>
            <a:ext cx="2642616" cy="850392"/>
          </a:xfrm>
          <a:prstGeom prst="rect">
            <a:avLst/>
          </a:prstGeom>
          <a:noFill/>
          <a:ln/>
        </p:spPr>
        <p:txBody>
          <a:bodyPr wrap="square" lIns="254" tIns="254" rIns="254" bIns="254" rtlCol="0" anchor="t">
            <a:normAutofit/>
          </a:bodyPr>
          <a:lstStyle/>
          <a:p>
            <a:pPr indent="0" marL="0">
              <a:buNone/>
            </a:pPr>
            <a:r>
              <a:rPr lang="en-US" sz="1200" dirty="0">
                <a:solidFill>
                  <a:srgbClr val="1F2937"/>
                </a:solidFill>
              </a:rPr>
              <a:t>mai mult contact</a:t>
            </a:r>
            <a:endParaRPr lang="en-US" sz="1200" dirty="0"/>
          </a:p>
          <a:p>
            <a:pPr indent="0" marL="0">
              <a:buNone/>
            </a:pPr>
            <a:r>
              <a:rPr lang="en-US" sz="1200" dirty="0">
                <a:solidFill>
                  <a:srgbClr val="1F2937"/>
                </a:solidFill>
              </a:rPr>
              <a:t>→ reacții mai rapide</a:t>
            </a:r>
            <a:endParaRPr lang="en-US" sz="1200" dirty="0"/>
          </a:p>
        </p:txBody>
      </p:sp>
      <p:sp>
        <p:nvSpPr>
          <p:cNvPr id="23" name="Shape 21"/>
          <p:cNvSpPr/>
          <p:nvPr/>
        </p:nvSpPr>
        <p:spPr>
          <a:xfrm>
            <a:off x="8092440" y="2971800"/>
            <a:ext cx="2971800" cy="1417320"/>
          </a:xfrm>
          <a:prstGeom prst="roundRect">
            <a:avLst>
              <a:gd name="adj" fmla="val 5161"/>
            </a:avLst>
          </a:prstGeom>
          <a:solidFill>
            <a:srgbClr val="FFFFFF"/>
          </a:solidFill>
          <a:ln w="13970">
            <a:solidFill>
              <a:srgbClr val="24A19C"/>
            </a:solidFill>
            <a:prstDash val="solid"/>
          </a:ln>
        </p:spPr>
      </p:sp>
      <p:sp>
        <p:nvSpPr>
          <p:cNvPr id="24" name="Shape 22"/>
          <p:cNvSpPr/>
          <p:nvPr/>
        </p:nvSpPr>
        <p:spPr>
          <a:xfrm>
            <a:off x="8092440" y="2971800"/>
            <a:ext cx="2971800" cy="347472"/>
          </a:xfrm>
          <a:prstGeom prst="rect">
            <a:avLst/>
          </a:prstGeom>
          <a:solidFill>
            <a:srgbClr val="24A19C"/>
          </a:solidFill>
          <a:ln w="12700">
            <a:solidFill>
              <a:srgbClr val="24A19C"/>
            </a:solidFill>
            <a:prstDash val="solid"/>
          </a:ln>
        </p:spPr>
      </p:sp>
      <p:sp>
        <p:nvSpPr>
          <p:cNvPr id="25" name="Text 23"/>
          <p:cNvSpPr/>
          <p:nvPr/>
        </p:nvSpPr>
        <p:spPr>
          <a:xfrm>
            <a:off x="8229600" y="3063240"/>
            <a:ext cx="269748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Catalizatorul</a:t>
            </a:r>
            <a:endParaRPr lang="en-US" sz="930" dirty="0"/>
          </a:p>
        </p:txBody>
      </p:sp>
      <p:sp>
        <p:nvSpPr>
          <p:cNvPr id="26" name="Text 24"/>
          <p:cNvSpPr/>
          <p:nvPr/>
        </p:nvSpPr>
        <p:spPr>
          <a:xfrm>
            <a:off x="8257032" y="3447288"/>
            <a:ext cx="2642616" cy="850392"/>
          </a:xfrm>
          <a:prstGeom prst="rect">
            <a:avLst/>
          </a:prstGeom>
          <a:noFill/>
          <a:ln/>
        </p:spPr>
        <p:txBody>
          <a:bodyPr wrap="square" lIns="254" tIns="254" rIns="254" bIns="254" rtlCol="0" anchor="t">
            <a:normAutofit/>
          </a:bodyPr>
          <a:lstStyle/>
          <a:p>
            <a:pPr indent="0" marL="0">
              <a:buNone/>
            </a:pPr>
            <a:r>
              <a:rPr lang="en-US" sz="1200" dirty="0">
                <a:solidFill>
                  <a:srgbClr val="1F2937"/>
                </a:solidFill>
              </a:rPr>
              <a:t>cale alternativă</a:t>
            </a:r>
            <a:endParaRPr lang="en-US" sz="1200" dirty="0"/>
          </a:p>
          <a:p>
            <a:pPr indent="0" marL="0">
              <a:buNone/>
            </a:pPr>
            <a:r>
              <a:rPr lang="en-US" sz="1200" dirty="0">
                <a:solidFill>
                  <a:srgbClr val="1F2937"/>
                </a:solidFill>
              </a:rPr>
              <a:t>→ energie de activare mai mică</a:t>
            </a:r>
            <a:endParaRPr lang="en-US" sz="1200" dirty="0"/>
          </a:p>
        </p:txBody>
      </p:sp>
      <p:sp>
        <p:nvSpPr>
          <p:cNvPr id="27" name="Shape 25"/>
          <p:cNvSpPr/>
          <p:nvPr/>
        </p:nvSpPr>
        <p:spPr>
          <a:xfrm>
            <a:off x="777240" y="2834640"/>
            <a:ext cx="3657600" cy="1783080"/>
          </a:xfrm>
          <a:prstGeom prst="roundRect">
            <a:avLst>
              <a:gd name="adj" fmla="val 4103"/>
            </a:avLst>
          </a:prstGeom>
          <a:solidFill>
            <a:srgbClr val="FFFFFF"/>
          </a:solidFill>
          <a:ln w="8890">
            <a:solidFill>
              <a:srgbClr val="D1DAE6"/>
            </a:solidFill>
            <a:prstDash val="solid"/>
          </a:ln>
        </p:spPr>
      </p:sp>
      <p:sp>
        <p:nvSpPr>
          <p:cNvPr id="28" name="Text 26"/>
          <p:cNvSpPr/>
          <p:nvPr/>
        </p:nvSpPr>
        <p:spPr>
          <a:xfrm>
            <a:off x="978408" y="3017520"/>
            <a:ext cx="3310128" cy="146304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 timpul devine variabilă măsurabilă</a:t>
            </a:r>
            <a:endParaRPr lang="en-US" sz="1250" dirty="0"/>
          </a:p>
          <a:p>
            <a:pPr indent="0" marL="0">
              <a:buNone/>
            </a:pPr>
            <a:r>
              <a:rPr lang="en-US" sz="1250" dirty="0">
                <a:solidFill>
                  <a:srgbClr val="1F2937"/>
                </a:solidFill>
              </a:rPr>
              <a:t>• experimentele compară condiții</a:t>
            </a:r>
            <a:endParaRPr lang="en-US" sz="1250" dirty="0"/>
          </a:p>
          <a:p>
            <a:pPr indent="0" marL="0">
              <a:buNone/>
            </a:pPr>
            <a:r>
              <a:rPr lang="en-US" sz="1250" dirty="0">
                <a:solidFill>
                  <a:srgbClr val="1F2937"/>
                </a:solidFill>
              </a:rPr>
              <a:t>• graficul poate arăta relația dintre factor și viteză</a:t>
            </a:r>
            <a:endParaRPr lang="en-US" sz="1250" dirty="0"/>
          </a:p>
        </p:txBody>
      </p:sp>
      <p:sp>
        <p:nvSpPr>
          <p:cNvPr id="29" name="Text 27"/>
          <p:cNvSpPr/>
          <p:nvPr/>
        </p:nvSpPr>
        <p:spPr>
          <a:xfrm>
            <a:off x="685800" y="6108192"/>
            <a:ext cx="10835640" cy="237744"/>
          </a:xfrm>
          <a:prstGeom prst="rect">
            <a:avLst/>
          </a:prstGeom>
          <a:noFill/>
          <a:ln/>
        </p:spPr>
        <p:txBody>
          <a:bodyPr wrap="square" lIns="0" tIns="0" rIns="0" bIns="0" rtlCol="0" anchor="ctr"/>
          <a:lstStyle/>
          <a:p>
            <a:pPr algn="ctr" indent="0" marL="0">
              <a:buNone/>
            </a:pPr>
            <a:r>
              <a:rPr lang="en-US" sz="820" i="1" dirty="0">
                <a:solidFill>
                  <a:srgbClr val="5B6777"/>
                </a:solidFill>
              </a:rPr>
              <a:t>Relevanță: medicamente, industrie, siguranță, mediu.</a:t>
            </a:r>
            <a:endParaRPr lang="en-US" sz="8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2.3 Biologie</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Biologie: timpul celular și spațiul perceput</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6</a:t>
            </a:r>
            <a:endParaRPr lang="en-US" sz="780" dirty="0"/>
          </a:p>
        </p:txBody>
      </p:sp>
      <p:sp>
        <p:nvSpPr>
          <p:cNvPr id="8" name="Shape 6"/>
          <p:cNvSpPr/>
          <p:nvPr/>
        </p:nvSpPr>
        <p:spPr>
          <a:xfrm>
            <a:off x="731520" y="1325880"/>
            <a:ext cx="5303520" cy="3474720"/>
          </a:xfrm>
          <a:prstGeom prst="roundRect">
            <a:avLst>
              <a:gd name="adj" fmla="val 2105"/>
            </a:avLst>
          </a:prstGeom>
          <a:solidFill>
            <a:srgbClr val="FFFFFF"/>
          </a:solidFill>
          <a:ln w="13970">
            <a:solidFill>
              <a:srgbClr val="EB5757"/>
            </a:solidFill>
            <a:prstDash val="solid"/>
          </a:ln>
        </p:spPr>
      </p:sp>
      <p:sp>
        <p:nvSpPr>
          <p:cNvPr id="9" name="Shape 7"/>
          <p:cNvSpPr/>
          <p:nvPr/>
        </p:nvSpPr>
        <p:spPr>
          <a:xfrm>
            <a:off x="731520" y="1325880"/>
            <a:ext cx="5303520" cy="347472"/>
          </a:xfrm>
          <a:prstGeom prst="rect">
            <a:avLst/>
          </a:prstGeom>
          <a:solidFill>
            <a:srgbClr val="EB5757"/>
          </a:solidFill>
          <a:ln w="12700">
            <a:solidFill>
              <a:srgbClr val="EB5757"/>
            </a:solidFill>
            <a:prstDash val="solid"/>
          </a:ln>
        </p:spPr>
      </p:sp>
      <p:sp>
        <p:nvSpPr>
          <p:cNvPr id="10" name="Text 8"/>
          <p:cNvSpPr/>
          <p:nvPr/>
        </p:nvSpPr>
        <p:spPr>
          <a:xfrm>
            <a:off x="868680" y="1417320"/>
            <a:ext cx="502920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Îmbătrânirea celulară</a:t>
            </a:r>
            <a:endParaRPr lang="en-US" sz="930" dirty="0"/>
          </a:p>
        </p:txBody>
      </p:sp>
      <p:sp>
        <p:nvSpPr>
          <p:cNvPr id="11" name="Text 9"/>
          <p:cNvSpPr/>
          <p:nvPr/>
        </p:nvSpPr>
        <p:spPr>
          <a:xfrm>
            <a:off x="896112" y="1801368"/>
            <a:ext cx="4974336" cy="2907792"/>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 deteriorări ale ADN-ului</a:t>
            </a:r>
            <a:endParaRPr lang="en-US" sz="1500" dirty="0"/>
          </a:p>
          <a:p>
            <a:pPr indent="0" marL="0">
              <a:buNone/>
            </a:pPr>
            <a:r>
              <a:rPr lang="en-US" sz="1500" dirty="0">
                <a:solidFill>
                  <a:srgbClr val="1F2937"/>
                </a:solidFill>
              </a:rPr>
              <a:t>• scurtarea telomerilor</a:t>
            </a:r>
            <a:endParaRPr lang="en-US" sz="1500" dirty="0"/>
          </a:p>
          <a:p>
            <a:pPr indent="0" marL="0">
              <a:buNone/>
            </a:pPr>
            <a:r>
              <a:rPr lang="en-US" sz="1500" dirty="0">
                <a:solidFill>
                  <a:srgbClr val="1F2937"/>
                </a:solidFill>
              </a:rPr>
              <a:t>• stres oxidativ</a:t>
            </a:r>
            <a:endParaRPr lang="en-US" sz="1500" dirty="0"/>
          </a:p>
          <a:p>
            <a:pPr indent="0" marL="0">
              <a:buNone/>
            </a:pPr>
            <a:r>
              <a:rPr lang="en-US" sz="1500" dirty="0">
                <a:solidFill>
                  <a:srgbClr val="1F2937"/>
                </a:solidFill>
              </a:rPr>
              <a:t>• disfuncții mitocondriale</a:t>
            </a:r>
            <a:endParaRPr lang="en-US" sz="1500" dirty="0"/>
          </a:p>
          <a:p>
            <a:pPr indent="0" marL="0">
              <a:buNone/>
            </a:pPr>
            <a:r>
              <a:rPr lang="en-US" sz="1500" dirty="0">
                <a:solidFill>
                  <a:srgbClr val="1F2937"/>
                </a:solidFill>
              </a:rPr>
              <a:t>• senescență celulară</a:t>
            </a:r>
            <a:endParaRPr lang="en-US" sz="1500" dirty="0"/>
          </a:p>
        </p:txBody>
      </p:sp>
      <p:sp>
        <p:nvSpPr>
          <p:cNvPr id="12" name="Shape 10"/>
          <p:cNvSpPr/>
          <p:nvPr/>
        </p:nvSpPr>
        <p:spPr>
          <a:xfrm>
            <a:off x="6263640" y="1325880"/>
            <a:ext cx="5212080" cy="3474720"/>
          </a:xfrm>
          <a:prstGeom prst="roundRect">
            <a:avLst>
              <a:gd name="adj" fmla="val 2105"/>
            </a:avLst>
          </a:prstGeom>
          <a:solidFill>
            <a:srgbClr val="FFFFFF"/>
          </a:solidFill>
          <a:ln w="13970">
            <a:solidFill>
              <a:srgbClr val="2F80ED"/>
            </a:solidFill>
            <a:prstDash val="solid"/>
          </a:ln>
        </p:spPr>
      </p:sp>
      <p:sp>
        <p:nvSpPr>
          <p:cNvPr id="13" name="Shape 11"/>
          <p:cNvSpPr/>
          <p:nvPr/>
        </p:nvSpPr>
        <p:spPr>
          <a:xfrm>
            <a:off x="6263640" y="1325880"/>
            <a:ext cx="5212080" cy="347472"/>
          </a:xfrm>
          <a:prstGeom prst="rect">
            <a:avLst/>
          </a:prstGeom>
          <a:solidFill>
            <a:srgbClr val="2F80ED"/>
          </a:solidFill>
          <a:ln w="12700">
            <a:solidFill>
              <a:srgbClr val="2F80ED"/>
            </a:solidFill>
            <a:prstDash val="solid"/>
          </a:ln>
        </p:spPr>
      </p:sp>
      <p:sp>
        <p:nvSpPr>
          <p:cNvPr id="14" name="Text 12"/>
          <p:cNvSpPr/>
          <p:nvPr/>
        </p:nvSpPr>
        <p:spPr>
          <a:xfrm>
            <a:off x="6400800" y="1417320"/>
            <a:ext cx="493776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Percepția spațiului</a:t>
            </a:r>
            <a:endParaRPr lang="en-US" sz="930" dirty="0"/>
          </a:p>
        </p:txBody>
      </p:sp>
      <p:sp>
        <p:nvSpPr>
          <p:cNvPr id="15" name="Text 13"/>
          <p:cNvSpPr/>
          <p:nvPr/>
        </p:nvSpPr>
        <p:spPr>
          <a:xfrm>
            <a:off x="6428232" y="1801368"/>
            <a:ext cx="4882896" cy="2907792"/>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 creierul interpretează indicii vizuali</a:t>
            </a:r>
            <a:endParaRPr lang="en-US" sz="1500" dirty="0"/>
          </a:p>
          <a:p>
            <a:pPr indent="0" marL="0">
              <a:buNone/>
            </a:pPr>
            <a:r>
              <a:rPr lang="en-US" sz="1500" dirty="0">
                <a:solidFill>
                  <a:srgbClr val="1F2937"/>
                </a:solidFill>
              </a:rPr>
              <a:t>• dimensiunea depinde de context</a:t>
            </a:r>
            <a:endParaRPr lang="en-US" sz="1500" dirty="0"/>
          </a:p>
          <a:p>
            <a:pPr indent="0" marL="0">
              <a:buNone/>
            </a:pPr>
            <a:r>
              <a:rPr lang="en-US" sz="1500" dirty="0">
                <a:solidFill>
                  <a:srgbClr val="1F2937"/>
                </a:solidFill>
              </a:rPr>
              <a:t>• iluziile arată diferența dintre spațiul fizic și spațiul perceput</a:t>
            </a:r>
            <a:endParaRPr lang="en-US" sz="1500" dirty="0"/>
          </a:p>
        </p:txBody>
      </p:sp>
      <p:sp>
        <p:nvSpPr>
          <p:cNvPr id="16" name="Shape 14"/>
          <p:cNvSpPr/>
          <p:nvPr/>
        </p:nvSpPr>
        <p:spPr>
          <a:xfrm>
            <a:off x="5440680" y="2788920"/>
            <a:ext cx="1143000" cy="502920"/>
          </a:xfrm>
          <a:prstGeom prst="leftRightArrow">
            <a:avLst/>
          </a:prstGeom>
          <a:solidFill>
            <a:srgbClr val="E8EEF5"/>
          </a:solidFill>
          <a:ln w="12700">
            <a:solidFill>
              <a:srgbClr val="E8EEF5"/>
            </a:solidFill>
            <a:prstDash val="solid"/>
          </a:ln>
        </p:spPr>
      </p:sp>
      <p:sp>
        <p:nvSpPr>
          <p:cNvPr id="17" name="Text 15"/>
          <p:cNvSpPr/>
          <p:nvPr/>
        </p:nvSpPr>
        <p:spPr>
          <a:xfrm>
            <a:off x="1097280" y="5166360"/>
            <a:ext cx="9966960" cy="347472"/>
          </a:xfrm>
          <a:prstGeom prst="rect">
            <a:avLst/>
          </a:prstGeom>
          <a:noFill/>
          <a:ln/>
        </p:spPr>
        <p:txBody>
          <a:bodyPr wrap="square" lIns="0" tIns="0" rIns="0" bIns="0" rtlCol="0" anchor="ctr">
            <a:normAutofit/>
          </a:bodyPr>
          <a:lstStyle/>
          <a:p>
            <a:pPr algn="ctr" indent="0" marL="0">
              <a:buNone/>
            </a:pPr>
            <a:r>
              <a:rPr lang="en-US" sz="1800" b="1" dirty="0">
                <a:solidFill>
                  <a:srgbClr val="0B1F33"/>
                </a:solidFill>
              </a:rPr>
              <a:t>Organismul este simultan obiect biologic și subiect care interpretează mediul.</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2.4 Istorie</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Istorie: cronologie, durată și spațiu istoric</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7</a:t>
            </a:r>
            <a:endParaRPr lang="en-US" sz="780" dirty="0"/>
          </a:p>
        </p:txBody>
      </p:sp>
      <p:sp>
        <p:nvSpPr>
          <p:cNvPr id="8" name="Shape 6"/>
          <p:cNvSpPr/>
          <p:nvPr/>
        </p:nvSpPr>
        <p:spPr>
          <a:xfrm>
            <a:off x="1234440" y="1554480"/>
            <a:ext cx="1828800" cy="1828800"/>
          </a:xfrm>
          <a:prstGeom prst="ellipse">
            <a:avLst/>
          </a:prstGeom>
          <a:solidFill>
            <a:srgbClr val="2F80ED">
              <a:alpha val="93000"/>
            </a:srgbClr>
          </a:solidFill>
          <a:ln w="15240">
            <a:solidFill>
              <a:srgbClr val="2F80ED"/>
            </a:solidFill>
            <a:prstDash val="solid"/>
          </a:ln>
        </p:spPr>
      </p:sp>
      <p:sp>
        <p:nvSpPr>
          <p:cNvPr id="9" name="Text 7"/>
          <p:cNvSpPr/>
          <p:nvPr/>
        </p:nvSpPr>
        <p:spPr>
          <a:xfrm>
            <a:off x="1188720" y="2029968"/>
            <a:ext cx="1920240" cy="25603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Timpul evenimentului</a:t>
            </a:r>
            <a:endParaRPr lang="en-US" sz="1250" dirty="0"/>
          </a:p>
        </p:txBody>
      </p:sp>
      <p:sp>
        <p:nvSpPr>
          <p:cNvPr id="10" name="Text 8"/>
          <p:cNvSpPr/>
          <p:nvPr/>
        </p:nvSpPr>
        <p:spPr>
          <a:xfrm>
            <a:off x="914400" y="3611880"/>
            <a:ext cx="2468880" cy="640080"/>
          </a:xfrm>
          <a:prstGeom prst="rect">
            <a:avLst/>
          </a:prstGeom>
          <a:noFill/>
          <a:ln/>
        </p:spPr>
        <p:txBody>
          <a:bodyPr wrap="square" lIns="254" tIns="254" rIns="254" bIns="254" rtlCol="0" anchor="ctr">
            <a:normAutofit/>
          </a:bodyPr>
          <a:lstStyle/>
          <a:p>
            <a:pPr algn="ctr" indent="0" marL="0">
              <a:buNone/>
            </a:pPr>
            <a:r>
              <a:rPr lang="en-US" sz="1250" dirty="0">
                <a:solidFill>
                  <a:srgbClr val="1F2937"/>
                </a:solidFill>
              </a:rPr>
              <a:t>decizii, fapte concrete, date precise</a:t>
            </a:r>
            <a:endParaRPr lang="en-US" sz="1250" dirty="0"/>
          </a:p>
        </p:txBody>
      </p:sp>
      <p:sp>
        <p:nvSpPr>
          <p:cNvPr id="11" name="Shape 9"/>
          <p:cNvSpPr/>
          <p:nvPr/>
        </p:nvSpPr>
        <p:spPr>
          <a:xfrm>
            <a:off x="4343400" y="1554480"/>
            <a:ext cx="1828800" cy="1828800"/>
          </a:xfrm>
          <a:prstGeom prst="ellipse">
            <a:avLst/>
          </a:prstGeom>
          <a:solidFill>
            <a:srgbClr val="24A19C">
              <a:alpha val="93000"/>
            </a:srgbClr>
          </a:solidFill>
          <a:ln w="15240">
            <a:solidFill>
              <a:srgbClr val="24A19C"/>
            </a:solidFill>
            <a:prstDash val="solid"/>
          </a:ln>
        </p:spPr>
      </p:sp>
      <p:sp>
        <p:nvSpPr>
          <p:cNvPr id="12" name="Text 10"/>
          <p:cNvSpPr/>
          <p:nvPr/>
        </p:nvSpPr>
        <p:spPr>
          <a:xfrm>
            <a:off x="4297680" y="2029968"/>
            <a:ext cx="1920240" cy="25603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Timpul conjuncturii</a:t>
            </a:r>
            <a:endParaRPr lang="en-US" sz="1250" dirty="0"/>
          </a:p>
        </p:txBody>
      </p:sp>
      <p:sp>
        <p:nvSpPr>
          <p:cNvPr id="13" name="Text 11"/>
          <p:cNvSpPr/>
          <p:nvPr/>
        </p:nvSpPr>
        <p:spPr>
          <a:xfrm>
            <a:off x="4023360" y="3611880"/>
            <a:ext cx="2468880" cy="640080"/>
          </a:xfrm>
          <a:prstGeom prst="rect">
            <a:avLst/>
          </a:prstGeom>
          <a:noFill/>
          <a:ln/>
        </p:spPr>
        <p:txBody>
          <a:bodyPr wrap="square" lIns="254" tIns="254" rIns="254" bIns="254" rtlCol="0" anchor="ctr">
            <a:normAutofit/>
          </a:bodyPr>
          <a:lstStyle/>
          <a:p>
            <a:pPr algn="ctr" indent="0" marL="0">
              <a:buNone/>
            </a:pPr>
            <a:r>
              <a:rPr lang="en-US" sz="1250" dirty="0">
                <a:solidFill>
                  <a:srgbClr val="1F2937"/>
                </a:solidFill>
              </a:rPr>
              <a:t>ritmuri economice, sociale și politice</a:t>
            </a:r>
            <a:endParaRPr lang="en-US" sz="1250" dirty="0"/>
          </a:p>
        </p:txBody>
      </p:sp>
      <p:sp>
        <p:nvSpPr>
          <p:cNvPr id="14" name="Shape 12"/>
          <p:cNvSpPr/>
          <p:nvPr/>
        </p:nvSpPr>
        <p:spPr>
          <a:xfrm>
            <a:off x="7452360" y="1554480"/>
            <a:ext cx="1828800" cy="1828800"/>
          </a:xfrm>
          <a:prstGeom prst="ellipse">
            <a:avLst/>
          </a:prstGeom>
          <a:solidFill>
            <a:srgbClr val="9B51E0">
              <a:alpha val="93000"/>
            </a:srgbClr>
          </a:solidFill>
          <a:ln w="15240">
            <a:solidFill>
              <a:srgbClr val="9B51E0"/>
            </a:solidFill>
            <a:prstDash val="solid"/>
          </a:ln>
        </p:spPr>
      </p:sp>
      <p:sp>
        <p:nvSpPr>
          <p:cNvPr id="15" name="Text 13"/>
          <p:cNvSpPr/>
          <p:nvPr/>
        </p:nvSpPr>
        <p:spPr>
          <a:xfrm>
            <a:off x="7406640" y="2029968"/>
            <a:ext cx="1920240" cy="25603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Timpul lung</a:t>
            </a:r>
            <a:endParaRPr lang="en-US" sz="1250" dirty="0"/>
          </a:p>
        </p:txBody>
      </p:sp>
      <p:sp>
        <p:nvSpPr>
          <p:cNvPr id="16" name="Text 14"/>
          <p:cNvSpPr/>
          <p:nvPr/>
        </p:nvSpPr>
        <p:spPr>
          <a:xfrm>
            <a:off x="7132320" y="3611880"/>
            <a:ext cx="2468880" cy="640080"/>
          </a:xfrm>
          <a:prstGeom prst="rect">
            <a:avLst/>
          </a:prstGeom>
          <a:noFill/>
          <a:ln/>
        </p:spPr>
        <p:txBody>
          <a:bodyPr wrap="square" lIns="254" tIns="254" rIns="254" bIns="254" rtlCol="0" anchor="ctr">
            <a:normAutofit/>
          </a:bodyPr>
          <a:lstStyle/>
          <a:p>
            <a:pPr algn="ctr" indent="0" marL="0">
              <a:buNone/>
            </a:pPr>
            <a:r>
              <a:rPr lang="en-US" sz="1250" dirty="0">
                <a:solidFill>
                  <a:srgbClr val="1F2937"/>
                </a:solidFill>
              </a:rPr>
              <a:t>structuri geografice, mentalități, instituții</a:t>
            </a:r>
            <a:endParaRPr lang="en-US" sz="1250" dirty="0"/>
          </a:p>
        </p:txBody>
      </p:sp>
      <p:sp>
        <p:nvSpPr>
          <p:cNvPr id="17" name="Shape 15"/>
          <p:cNvSpPr/>
          <p:nvPr/>
        </p:nvSpPr>
        <p:spPr>
          <a:xfrm>
            <a:off x="2331720" y="2468880"/>
            <a:ext cx="1965960" cy="0"/>
          </a:xfrm>
          <a:prstGeom prst="line">
            <a:avLst/>
          </a:prstGeom>
          <a:noFill/>
          <a:ln w="25400">
            <a:solidFill>
              <a:srgbClr val="E8EEF5"/>
            </a:solidFill>
            <a:prstDash val="solid"/>
            <a:headEnd type="none"/>
            <a:tailEnd type="triangle"/>
          </a:ln>
        </p:spPr>
      </p:sp>
      <p:sp>
        <p:nvSpPr>
          <p:cNvPr id="18" name="Shape 16"/>
          <p:cNvSpPr/>
          <p:nvPr/>
        </p:nvSpPr>
        <p:spPr>
          <a:xfrm>
            <a:off x="5440680" y="2468880"/>
            <a:ext cx="1965960" cy="0"/>
          </a:xfrm>
          <a:prstGeom prst="line">
            <a:avLst/>
          </a:prstGeom>
          <a:noFill/>
          <a:ln w="25400">
            <a:solidFill>
              <a:srgbClr val="E8EEF5"/>
            </a:solidFill>
            <a:prstDash val="solid"/>
            <a:headEnd type="none"/>
            <a:tailEnd type="triangle"/>
          </a:ln>
        </p:spPr>
      </p:sp>
      <p:sp>
        <p:nvSpPr>
          <p:cNvPr id="19" name="Shape 17"/>
          <p:cNvSpPr/>
          <p:nvPr/>
        </p:nvSpPr>
        <p:spPr>
          <a:xfrm>
            <a:off x="868680" y="4709160"/>
            <a:ext cx="10469880" cy="822960"/>
          </a:xfrm>
          <a:prstGeom prst="roundRect">
            <a:avLst>
              <a:gd name="adj" fmla="val 8889"/>
            </a:avLst>
          </a:prstGeom>
          <a:solidFill>
            <a:srgbClr val="FFFFFF"/>
          </a:solidFill>
          <a:ln w="8890">
            <a:solidFill>
              <a:srgbClr val="D1DAE6"/>
            </a:solidFill>
            <a:prstDash val="solid"/>
          </a:ln>
        </p:spPr>
      </p:sp>
      <p:sp>
        <p:nvSpPr>
          <p:cNvPr id="20" name="Text 18"/>
          <p:cNvSpPr/>
          <p:nvPr/>
        </p:nvSpPr>
        <p:spPr>
          <a:xfrm>
            <a:off x="1069848" y="4892040"/>
            <a:ext cx="10122408" cy="502920"/>
          </a:xfrm>
          <a:prstGeom prst="rect">
            <a:avLst/>
          </a:prstGeom>
          <a:noFill/>
          <a:ln/>
        </p:spPr>
        <p:txBody>
          <a:bodyPr wrap="square" lIns="254" tIns="254" rIns="254" bIns="254" rtlCol="0" anchor="ctr">
            <a:normAutofit/>
          </a:bodyPr>
          <a:lstStyle/>
          <a:p>
            <a:pPr indent="0" marL="0">
              <a:buNone/>
            </a:pPr>
            <a:r>
              <a:rPr lang="en-US" sz="1600" dirty="0">
                <a:solidFill>
                  <a:srgbClr val="1F2937"/>
                </a:solidFill>
              </a:rPr>
              <a:t>• Istoria nu este doar o listă de date: ea explică ritmuri, cauze, spații, surse și consecințe.</a:t>
            </a:r>
            <a:endParaRPr lang="en-US" sz="1600" dirty="0"/>
          </a:p>
        </p:txBody>
      </p:sp>
      <p:sp>
        <p:nvSpPr>
          <p:cNvPr id="21" name="Text 19"/>
          <p:cNvSpPr/>
          <p:nvPr/>
        </p:nvSpPr>
        <p:spPr>
          <a:xfrm>
            <a:off x="685800" y="6108192"/>
            <a:ext cx="10835640" cy="237744"/>
          </a:xfrm>
          <a:prstGeom prst="rect">
            <a:avLst/>
          </a:prstGeom>
          <a:noFill/>
          <a:ln/>
        </p:spPr>
        <p:txBody>
          <a:bodyPr wrap="square" lIns="0" tIns="0" rIns="0" bIns="0" rtlCol="0" anchor="ctr"/>
          <a:lstStyle/>
          <a:p>
            <a:pPr algn="ctr" indent="0" marL="0">
              <a:buNone/>
            </a:pPr>
            <a:r>
              <a:rPr lang="en-US" sz="820" i="1" dirty="0">
                <a:solidFill>
                  <a:srgbClr val="5B6777"/>
                </a:solidFill>
              </a:rPr>
              <a:t>Inspirație: Fernand Braudel și perspectiva duratelor istorice.</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2.5 Geografie</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Geografie: de la universul observabil la Europa globalizată</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8</a:t>
            </a:r>
            <a:endParaRPr lang="en-US" sz="780" dirty="0"/>
          </a:p>
        </p:txBody>
      </p:sp>
      <p:sp>
        <p:nvSpPr>
          <p:cNvPr id="8" name="Shape 6"/>
          <p:cNvSpPr/>
          <p:nvPr/>
        </p:nvSpPr>
        <p:spPr>
          <a:xfrm>
            <a:off x="777240" y="1325880"/>
            <a:ext cx="5166360" cy="3703320"/>
          </a:xfrm>
          <a:prstGeom prst="roundRect">
            <a:avLst>
              <a:gd name="adj" fmla="val 1975"/>
            </a:avLst>
          </a:prstGeom>
          <a:solidFill>
            <a:srgbClr val="FFFFFF"/>
          </a:solidFill>
          <a:ln w="13970">
            <a:solidFill>
              <a:srgbClr val="0B1F33"/>
            </a:solidFill>
            <a:prstDash val="solid"/>
          </a:ln>
        </p:spPr>
      </p:sp>
      <p:sp>
        <p:nvSpPr>
          <p:cNvPr id="9" name="Shape 7"/>
          <p:cNvSpPr/>
          <p:nvPr/>
        </p:nvSpPr>
        <p:spPr>
          <a:xfrm>
            <a:off x="777240" y="1325880"/>
            <a:ext cx="5166360" cy="347472"/>
          </a:xfrm>
          <a:prstGeom prst="rect">
            <a:avLst/>
          </a:prstGeom>
          <a:solidFill>
            <a:srgbClr val="0B1F33"/>
          </a:solidFill>
          <a:ln w="12700">
            <a:solidFill>
              <a:srgbClr val="0B1F33"/>
            </a:solidFill>
            <a:prstDash val="solid"/>
          </a:ln>
        </p:spPr>
      </p:sp>
      <p:sp>
        <p:nvSpPr>
          <p:cNvPr id="10" name="Text 8"/>
          <p:cNvSpPr/>
          <p:nvPr/>
        </p:nvSpPr>
        <p:spPr>
          <a:xfrm>
            <a:off x="914400" y="1417320"/>
            <a:ext cx="489204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Scara cosmică</a:t>
            </a:r>
            <a:endParaRPr lang="en-US" sz="930" dirty="0"/>
          </a:p>
        </p:txBody>
      </p:sp>
      <p:sp>
        <p:nvSpPr>
          <p:cNvPr id="11" name="Text 9"/>
          <p:cNvSpPr/>
          <p:nvPr/>
        </p:nvSpPr>
        <p:spPr>
          <a:xfrm>
            <a:off x="941832" y="1801368"/>
            <a:ext cx="4837176" cy="3136392"/>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A privi foarte departe în spațiu înseamnă a privi în trecut, deoarece lumina are o viteză finită.</a:t>
            </a:r>
            <a:endParaRPr lang="en-US" sz="1500" dirty="0"/>
          </a:p>
          <a:p>
            <a:pPr indent="0" marL="0">
              <a:buNone/>
            </a:pPr>
            <a:endParaRPr lang="en-US" sz="1500" dirty="0"/>
          </a:p>
          <a:p>
            <a:pPr indent="0" marL="0">
              <a:buNone/>
            </a:pPr>
            <a:r>
              <a:rPr lang="en-US" sz="1500" dirty="0">
                <a:solidFill>
                  <a:srgbClr val="1F2937"/>
                </a:solidFill>
              </a:rPr>
              <a:t>Universul observabil leagă distanța de istoria cosmică.</a:t>
            </a:r>
            <a:endParaRPr lang="en-US" sz="1500" dirty="0"/>
          </a:p>
        </p:txBody>
      </p:sp>
      <p:sp>
        <p:nvSpPr>
          <p:cNvPr id="12" name="Shape 10"/>
          <p:cNvSpPr/>
          <p:nvPr/>
        </p:nvSpPr>
        <p:spPr>
          <a:xfrm>
            <a:off x="6263640" y="1325880"/>
            <a:ext cx="5166360" cy="3703320"/>
          </a:xfrm>
          <a:prstGeom prst="roundRect">
            <a:avLst>
              <a:gd name="adj" fmla="val 1975"/>
            </a:avLst>
          </a:prstGeom>
          <a:solidFill>
            <a:srgbClr val="FFFFFF"/>
          </a:solidFill>
          <a:ln w="13970">
            <a:solidFill>
              <a:srgbClr val="2F80ED"/>
            </a:solidFill>
            <a:prstDash val="solid"/>
          </a:ln>
        </p:spPr>
      </p:sp>
      <p:sp>
        <p:nvSpPr>
          <p:cNvPr id="13" name="Shape 11"/>
          <p:cNvSpPr/>
          <p:nvPr/>
        </p:nvSpPr>
        <p:spPr>
          <a:xfrm>
            <a:off x="6263640" y="1325880"/>
            <a:ext cx="5166360" cy="347472"/>
          </a:xfrm>
          <a:prstGeom prst="rect">
            <a:avLst/>
          </a:prstGeom>
          <a:solidFill>
            <a:srgbClr val="2F80ED"/>
          </a:solidFill>
          <a:ln w="12700">
            <a:solidFill>
              <a:srgbClr val="2F80ED"/>
            </a:solidFill>
            <a:prstDash val="solid"/>
          </a:ln>
        </p:spPr>
      </p:sp>
      <p:sp>
        <p:nvSpPr>
          <p:cNvPr id="14" name="Text 12"/>
          <p:cNvSpPr/>
          <p:nvPr/>
        </p:nvSpPr>
        <p:spPr>
          <a:xfrm>
            <a:off x="6400800" y="1417320"/>
            <a:ext cx="489204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Scara europeană</a:t>
            </a:r>
            <a:endParaRPr lang="en-US" sz="930" dirty="0"/>
          </a:p>
        </p:txBody>
      </p:sp>
      <p:sp>
        <p:nvSpPr>
          <p:cNvPr id="15" name="Text 13"/>
          <p:cNvSpPr/>
          <p:nvPr/>
        </p:nvSpPr>
        <p:spPr>
          <a:xfrm>
            <a:off x="6428232" y="1801368"/>
            <a:ext cx="4837176" cy="3136392"/>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Globalizarea schimbă teritoriile prin transporturi, piață unică, migrații, date și rețele digitale.</a:t>
            </a:r>
            <a:endParaRPr lang="en-US" sz="1500" dirty="0"/>
          </a:p>
          <a:p>
            <a:pPr indent="0" marL="0">
              <a:buNone/>
            </a:pPr>
            <a:endParaRPr lang="en-US" sz="1500" dirty="0"/>
          </a:p>
          <a:p>
            <a:pPr indent="0" marL="0">
              <a:buNone/>
            </a:pPr>
            <a:r>
              <a:rPr lang="en-US" sz="1500" dirty="0">
                <a:solidFill>
                  <a:srgbClr val="1F2937"/>
                </a:solidFill>
              </a:rPr>
              <a:t>Spațiul este traversat și reorganizat.</a:t>
            </a:r>
            <a:endParaRPr lang="en-US" sz="1500" dirty="0"/>
          </a:p>
        </p:txBody>
      </p:sp>
      <p:sp>
        <p:nvSpPr>
          <p:cNvPr id="16" name="Shape 14"/>
          <p:cNvSpPr/>
          <p:nvPr/>
        </p:nvSpPr>
        <p:spPr>
          <a:xfrm>
            <a:off x="1874520" y="5321808"/>
            <a:ext cx="1051560" cy="310896"/>
          </a:xfrm>
          <a:prstGeom prst="roundRect">
            <a:avLst>
              <a:gd name="adj" fmla="val 17647"/>
            </a:avLst>
          </a:prstGeom>
          <a:solidFill>
            <a:srgbClr val="24A19C"/>
          </a:solidFill>
          <a:ln w="12700">
            <a:solidFill>
              <a:srgbClr val="24A19C"/>
            </a:solidFill>
            <a:prstDash val="solid"/>
          </a:ln>
        </p:spPr>
      </p:sp>
      <p:sp>
        <p:nvSpPr>
          <p:cNvPr id="17" name="Text 15"/>
          <p:cNvSpPr/>
          <p:nvPr/>
        </p:nvSpPr>
        <p:spPr>
          <a:xfrm>
            <a:off x="1984248" y="5394960"/>
            <a:ext cx="832104" cy="128016"/>
          </a:xfrm>
          <a:prstGeom prst="rect">
            <a:avLst/>
          </a:prstGeom>
          <a:noFill/>
          <a:ln/>
        </p:spPr>
        <p:txBody>
          <a:bodyPr wrap="square" lIns="0" tIns="0" rIns="0" bIns="0" rtlCol="0" anchor="ctr"/>
          <a:lstStyle/>
          <a:p>
            <a:pPr algn="ctr" indent="0" marL="0">
              <a:buNone/>
            </a:pPr>
            <a:r>
              <a:rPr lang="en-US" sz="830" b="1" dirty="0">
                <a:solidFill>
                  <a:srgbClr val="FFFFFF"/>
                </a:solidFill>
              </a:rPr>
              <a:t>hărți</a:t>
            </a:r>
            <a:endParaRPr lang="en-US" sz="830" dirty="0"/>
          </a:p>
        </p:txBody>
      </p:sp>
      <p:sp>
        <p:nvSpPr>
          <p:cNvPr id="18" name="Shape 16"/>
          <p:cNvSpPr/>
          <p:nvPr/>
        </p:nvSpPr>
        <p:spPr>
          <a:xfrm>
            <a:off x="3063240" y="5321808"/>
            <a:ext cx="1234440" cy="310896"/>
          </a:xfrm>
          <a:prstGeom prst="roundRect">
            <a:avLst>
              <a:gd name="adj" fmla="val 17647"/>
            </a:avLst>
          </a:prstGeom>
          <a:solidFill>
            <a:srgbClr val="24A19C"/>
          </a:solidFill>
          <a:ln w="12700">
            <a:solidFill>
              <a:srgbClr val="24A19C"/>
            </a:solidFill>
            <a:prstDash val="solid"/>
          </a:ln>
        </p:spPr>
      </p:sp>
      <p:sp>
        <p:nvSpPr>
          <p:cNvPr id="19" name="Text 17"/>
          <p:cNvSpPr/>
          <p:nvPr/>
        </p:nvSpPr>
        <p:spPr>
          <a:xfrm>
            <a:off x="3172968" y="5394960"/>
            <a:ext cx="1014984" cy="128016"/>
          </a:xfrm>
          <a:prstGeom prst="rect">
            <a:avLst/>
          </a:prstGeom>
          <a:noFill/>
          <a:ln/>
        </p:spPr>
        <p:txBody>
          <a:bodyPr wrap="square" lIns="0" tIns="0" rIns="0" bIns="0" rtlCol="0" anchor="ctr"/>
          <a:lstStyle/>
          <a:p>
            <a:pPr algn="ctr" indent="0" marL="0">
              <a:buNone/>
            </a:pPr>
            <a:r>
              <a:rPr lang="en-US" sz="830" b="1" dirty="0">
                <a:solidFill>
                  <a:srgbClr val="FFFFFF"/>
                </a:solidFill>
              </a:rPr>
              <a:t>fluxuri</a:t>
            </a:r>
            <a:endParaRPr lang="en-US" sz="830" dirty="0"/>
          </a:p>
        </p:txBody>
      </p:sp>
      <p:sp>
        <p:nvSpPr>
          <p:cNvPr id="20" name="Shape 18"/>
          <p:cNvSpPr/>
          <p:nvPr/>
        </p:nvSpPr>
        <p:spPr>
          <a:xfrm>
            <a:off x="4434840" y="5321808"/>
            <a:ext cx="1645920" cy="310896"/>
          </a:xfrm>
          <a:prstGeom prst="roundRect">
            <a:avLst>
              <a:gd name="adj" fmla="val 17647"/>
            </a:avLst>
          </a:prstGeom>
          <a:solidFill>
            <a:srgbClr val="24A19C"/>
          </a:solidFill>
          <a:ln w="12700">
            <a:solidFill>
              <a:srgbClr val="24A19C"/>
            </a:solidFill>
            <a:prstDash val="solid"/>
          </a:ln>
        </p:spPr>
      </p:sp>
      <p:sp>
        <p:nvSpPr>
          <p:cNvPr id="21" name="Text 19"/>
          <p:cNvSpPr/>
          <p:nvPr/>
        </p:nvSpPr>
        <p:spPr>
          <a:xfrm>
            <a:off x="4544568" y="5394960"/>
            <a:ext cx="1426464" cy="128016"/>
          </a:xfrm>
          <a:prstGeom prst="rect">
            <a:avLst/>
          </a:prstGeom>
          <a:noFill/>
          <a:ln/>
        </p:spPr>
        <p:txBody>
          <a:bodyPr wrap="square" lIns="0" tIns="0" rIns="0" bIns="0" rtlCol="0" anchor="ctr"/>
          <a:lstStyle/>
          <a:p>
            <a:pPr algn="ctr" indent="0" marL="0">
              <a:buNone/>
            </a:pPr>
            <a:r>
              <a:rPr lang="en-US" sz="830" b="1" dirty="0">
                <a:solidFill>
                  <a:srgbClr val="FFFFFF"/>
                </a:solidFill>
              </a:rPr>
              <a:t>infrastructuri</a:t>
            </a:r>
            <a:endParaRPr lang="en-US" sz="830" dirty="0"/>
          </a:p>
        </p:txBody>
      </p:sp>
      <p:sp>
        <p:nvSpPr>
          <p:cNvPr id="22" name="Shape 20"/>
          <p:cNvSpPr/>
          <p:nvPr/>
        </p:nvSpPr>
        <p:spPr>
          <a:xfrm>
            <a:off x="6217920" y="5321808"/>
            <a:ext cx="1005840" cy="310896"/>
          </a:xfrm>
          <a:prstGeom prst="roundRect">
            <a:avLst>
              <a:gd name="adj" fmla="val 17647"/>
            </a:avLst>
          </a:prstGeom>
          <a:solidFill>
            <a:srgbClr val="24A19C"/>
          </a:solidFill>
          <a:ln w="12700">
            <a:solidFill>
              <a:srgbClr val="24A19C"/>
            </a:solidFill>
            <a:prstDash val="solid"/>
          </a:ln>
        </p:spPr>
      </p:sp>
      <p:sp>
        <p:nvSpPr>
          <p:cNvPr id="23" name="Text 21"/>
          <p:cNvSpPr/>
          <p:nvPr/>
        </p:nvSpPr>
        <p:spPr>
          <a:xfrm>
            <a:off x="6327648" y="5394960"/>
            <a:ext cx="786384" cy="128016"/>
          </a:xfrm>
          <a:prstGeom prst="rect">
            <a:avLst/>
          </a:prstGeom>
          <a:noFill/>
          <a:ln/>
        </p:spPr>
        <p:txBody>
          <a:bodyPr wrap="square" lIns="0" tIns="0" rIns="0" bIns="0" rtlCol="0" anchor="ctr"/>
          <a:lstStyle/>
          <a:p>
            <a:pPr algn="ctr" indent="0" marL="0">
              <a:buNone/>
            </a:pPr>
            <a:r>
              <a:rPr lang="en-US" sz="830" b="1" dirty="0">
                <a:solidFill>
                  <a:srgbClr val="FFFFFF"/>
                </a:solidFill>
              </a:rPr>
              <a:t>date</a:t>
            </a:r>
            <a:endParaRPr lang="en-US" sz="830" dirty="0"/>
          </a:p>
        </p:txBody>
      </p:sp>
      <p:sp>
        <p:nvSpPr>
          <p:cNvPr id="24" name="Shape 22"/>
          <p:cNvSpPr/>
          <p:nvPr/>
        </p:nvSpPr>
        <p:spPr>
          <a:xfrm>
            <a:off x="7360920" y="5321808"/>
            <a:ext cx="1417320" cy="310896"/>
          </a:xfrm>
          <a:prstGeom prst="roundRect">
            <a:avLst>
              <a:gd name="adj" fmla="val 17647"/>
            </a:avLst>
          </a:prstGeom>
          <a:solidFill>
            <a:srgbClr val="24A19C"/>
          </a:solidFill>
          <a:ln w="12700">
            <a:solidFill>
              <a:srgbClr val="24A19C"/>
            </a:solidFill>
            <a:prstDash val="solid"/>
          </a:ln>
        </p:spPr>
      </p:sp>
      <p:sp>
        <p:nvSpPr>
          <p:cNvPr id="25" name="Text 23"/>
          <p:cNvSpPr/>
          <p:nvPr/>
        </p:nvSpPr>
        <p:spPr>
          <a:xfrm>
            <a:off x="7470648" y="5394960"/>
            <a:ext cx="1197864" cy="128016"/>
          </a:xfrm>
          <a:prstGeom prst="rect">
            <a:avLst/>
          </a:prstGeom>
          <a:noFill/>
          <a:ln/>
        </p:spPr>
        <p:txBody>
          <a:bodyPr wrap="square" lIns="0" tIns="0" rIns="0" bIns="0" rtlCol="0" anchor="ctr"/>
          <a:lstStyle/>
          <a:p>
            <a:pPr algn="ctr" indent="0" marL="0">
              <a:buNone/>
            </a:pPr>
            <a:r>
              <a:rPr lang="en-US" sz="830" b="1" dirty="0">
                <a:solidFill>
                  <a:srgbClr val="FFFFFF"/>
                </a:solidFill>
              </a:rPr>
              <a:t>mobilitate</a:t>
            </a:r>
            <a:endParaRPr lang="en-US" sz="830" dirty="0"/>
          </a:p>
        </p:txBody>
      </p:sp>
      <p:sp>
        <p:nvSpPr>
          <p:cNvPr id="26" name="Shape 24"/>
          <p:cNvSpPr/>
          <p:nvPr/>
        </p:nvSpPr>
        <p:spPr>
          <a:xfrm>
            <a:off x="8915400" y="5321808"/>
            <a:ext cx="1600200" cy="310896"/>
          </a:xfrm>
          <a:prstGeom prst="roundRect">
            <a:avLst>
              <a:gd name="adj" fmla="val 17647"/>
            </a:avLst>
          </a:prstGeom>
          <a:solidFill>
            <a:srgbClr val="24A19C"/>
          </a:solidFill>
          <a:ln w="12700">
            <a:solidFill>
              <a:srgbClr val="24A19C"/>
            </a:solidFill>
            <a:prstDash val="solid"/>
          </a:ln>
        </p:spPr>
      </p:sp>
      <p:sp>
        <p:nvSpPr>
          <p:cNvPr id="27" name="Text 25"/>
          <p:cNvSpPr/>
          <p:nvPr/>
        </p:nvSpPr>
        <p:spPr>
          <a:xfrm>
            <a:off x="9025128" y="5394960"/>
            <a:ext cx="1380744" cy="128016"/>
          </a:xfrm>
          <a:prstGeom prst="rect">
            <a:avLst/>
          </a:prstGeom>
          <a:noFill/>
          <a:ln/>
        </p:spPr>
        <p:txBody>
          <a:bodyPr wrap="square" lIns="0" tIns="0" rIns="0" bIns="0" rtlCol="0" anchor="ctr"/>
          <a:lstStyle/>
          <a:p>
            <a:pPr algn="ctr" indent="0" marL="0">
              <a:buNone/>
            </a:pPr>
            <a:r>
              <a:rPr lang="en-US" sz="830" b="1" dirty="0">
                <a:solidFill>
                  <a:srgbClr val="FFFFFF"/>
                </a:solidFill>
              </a:rPr>
              <a:t>globalizare</a:t>
            </a:r>
            <a:endParaRPr lang="en-US" sz="83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2.6 Filosofie</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Filosofie: patru moduri de a gândi spațiul și timpul</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9</a:t>
            </a:r>
            <a:endParaRPr lang="en-US" sz="780" dirty="0"/>
          </a:p>
        </p:txBody>
      </p:sp>
      <p:sp>
        <p:nvSpPr>
          <p:cNvPr id="8" name="Shape 6"/>
          <p:cNvSpPr/>
          <p:nvPr/>
        </p:nvSpPr>
        <p:spPr>
          <a:xfrm>
            <a:off x="868680" y="1325880"/>
            <a:ext cx="1828800" cy="658368"/>
          </a:xfrm>
          <a:prstGeom prst="roundRect">
            <a:avLst/>
          </a:prstGeom>
          <a:solidFill>
            <a:srgbClr val="2F80ED"/>
          </a:solidFill>
          <a:ln w="12700">
            <a:solidFill>
              <a:srgbClr val="2F80ED"/>
            </a:solidFill>
            <a:prstDash val="solid"/>
          </a:ln>
        </p:spPr>
      </p:sp>
      <p:sp>
        <p:nvSpPr>
          <p:cNvPr id="9" name="Text 7"/>
          <p:cNvSpPr/>
          <p:nvPr/>
        </p:nvSpPr>
        <p:spPr>
          <a:xfrm>
            <a:off x="960120" y="1508760"/>
            <a:ext cx="1645920" cy="182880"/>
          </a:xfrm>
          <a:prstGeom prst="rect">
            <a:avLst/>
          </a:prstGeom>
          <a:noFill/>
          <a:ln/>
        </p:spPr>
        <p:txBody>
          <a:bodyPr wrap="square" lIns="0" tIns="0" rIns="0" bIns="0" rtlCol="0" anchor="ctr"/>
          <a:lstStyle/>
          <a:p>
            <a:pPr algn="ctr" indent="0" marL="0">
              <a:buNone/>
            </a:pPr>
            <a:r>
              <a:rPr lang="en-US" sz="1400" b="1" dirty="0">
                <a:solidFill>
                  <a:srgbClr val="FFFFFF"/>
                </a:solidFill>
              </a:rPr>
              <a:t>Newton</a:t>
            </a:r>
            <a:endParaRPr lang="en-US" sz="1400" dirty="0"/>
          </a:p>
        </p:txBody>
      </p:sp>
      <p:sp>
        <p:nvSpPr>
          <p:cNvPr id="10" name="Shape 8"/>
          <p:cNvSpPr/>
          <p:nvPr/>
        </p:nvSpPr>
        <p:spPr>
          <a:xfrm>
            <a:off x="2971800" y="1325880"/>
            <a:ext cx="8183880" cy="658368"/>
          </a:xfrm>
          <a:prstGeom prst="roundRect">
            <a:avLst/>
          </a:prstGeom>
          <a:solidFill>
            <a:srgbClr val="FFFFFF"/>
          </a:solidFill>
          <a:ln w="12700">
            <a:solidFill>
              <a:srgbClr val="D1DAE6"/>
            </a:solidFill>
            <a:prstDash val="solid"/>
          </a:ln>
        </p:spPr>
      </p:sp>
      <p:sp>
        <p:nvSpPr>
          <p:cNvPr id="11" name="Text 9"/>
          <p:cNvSpPr/>
          <p:nvPr/>
        </p:nvSpPr>
        <p:spPr>
          <a:xfrm>
            <a:off x="3246120" y="1490472"/>
            <a:ext cx="7498080" cy="219456"/>
          </a:xfrm>
          <a:prstGeom prst="rect">
            <a:avLst/>
          </a:prstGeom>
          <a:noFill/>
          <a:ln/>
        </p:spPr>
        <p:txBody>
          <a:bodyPr wrap="square" lIns="0" tIns="0" rIns="0" bIns="0" rtlCol="0" anchor="ctr">
            <a:normAutofit/>
          </a:bodyPr>
          <a:lstStyle/>
          <a:p>
            <a:pPr indent="0" marL="0">
              <a:buNone/>
            </a:pPr>
            <a:r>
              <a:rPr lang="en-US" sz="1550" b="1" dirty="0">
                <a:solidFill>
                  <a:srgbClr val="1F2937"/>
                </a:solidFill>
              </a:rPr>
              <a:t>cadru absolut</a:t>
            </a:r>
            <a:endParaRPr lang="en-US" sz="1550" dirty="0"/>
          </a:p>
        </p:txBody>
      </p:sp>
      <p:sp>
        <p:nvSpPr>
          <p:cNvPr id="12" name="Shape 10"/>
          <p:cNvSpPr/>
          <p:nvPr/>
        </p:nvSpPr>
        <p:spPr>
          <a:xfrm>
            <a:off x="868680" y="2404872"/>
            <a:ext cx="1828800" cy="658368"/>
          </a:xfrm>
          <a:prstGeom prst="roundRect">
            <a:avLst/>
          </a:prstGeom>
          <a:solidFill>
            <a:srgbClr val="24A19C"/>
          </a:solidFill>
          <a:ln w="12700">
            <a:solidFill>
              <a:srgbClr val="24A19C"/>
            </a:solidFill>
            <a:prstDash val="solid"/>
          </a:ln>
        </p:spPr>
      </p:sp>
      <p:sp>
        <p:nvSpPr>
          <p:cNvPr id="13" name="Text 11"/>
          <p:cNvSpPr/>
          <p:nvPr/>
        </p:nvSpPr>
        <p:spPr>
          <a:xfrm>
            <a:off x="960120" y="2587752"/>
            <a:ext cx="1645920" cy="182880"/>
          </a:xfrm>
          <a:prstGeom prst="rect">
            <a:avLst/>
          </a:prstGeom>
          <a:noFill/>
          <a:ln/>
        </p:spPr>
        <p:txBody>
          <a:bodyPr wrap="square" lIns="0" tIns="0" rIns="0" bIns="0" rtlCol="0" anchor="ctr"/>
          <a:lstStyle/>
          <a:p>
            <a:pPr algn="ctr" indent="0" marL="0">
              <a:buNone/>
            </a:pPr>
            <a:r>
              <a:rPr lang="en-US" sz="1400" b="1" dirty="0">
                <a:solidFill>
                  <a:srgbClr val="FFFFFF"/>
                </a:solidFill>
              </a:rPr>
              <a:t>Leibniz</a:t>
            </a:r>
            <a:endParaRPr lang="en-US" sz="1400" dirty="0"/>
          </a:p>
        </p:txBody>
      </p:sp>
      <p:sp>
        <p:nvSpPr>
          <p:cNvPr id="14" name="Shape 12"/>
          <p:cNvSpPr/>
          <p:nvPr/>
        </p:nvSpPr>
        <p:spPr>
          <a:xfrm>
            <a:off x="2971800" y="2404872"/>
            <a:ext cx="8183880" cy="658368"/>
          </a:xfrm>
          <a:prstGeom prst="roundRect">
            <a:avLst/>
          </a:prstGeom>
          <a:solidFill>
            <a:srgbClr val="FFFFFF"/>
          </a:solidFill>
          <a:ln w="12700">
            <a:solidFill>
              <a:srgbClr val="D1DAE6"/>
            </a:solidFill>
            <a:prstDash val="solid"/>
          </a:ln>
        </p:spPr>
      </p:sp>
      <p:sp>
        <p:nvSpPr>
          <p:cNvPr id="15" name="Text 13"/>
          <p:cNvSpPr/>
          <p:nvPr/>
        </p:nvSpPr>
        <p:spPr>
          <a:xfrm>
            <a:off x="3246120" y="2569464"/>
            <a:ext cx="7498080" cy="219456"/>
          </a:xfrm>
          <a:prstGeom prst="rect">
            <a:avLst/>
          </a:prstGeom>
          <a:noFill/>
          <a:ln/>
        </p:spPr>
        <p:txBody>
          <a:bodyPr wrap="square" lIns="0" tIns="0" rIns="0" bIns="0" rtlCol="0" anchor="ctr">
            <a:normAutofit/>
          </a:bodyPr>
          <a:lstStyle/>
          <a:p>
            <a:pPr indent="0" marL="0">
              <a:buNone/>
            </a:pPr>
            <a:r>
              <a:rPr lang="en-US" sz="1550" b="1" dirty="0">
                <a:solidFill>
                  <a:srgbClr val="1F2937"/>
                </a:solidFill>
              </a:rPr>
              <a:t>ordine a relațiilor</a:t>
            </a:r>
            <a:endParaRPr lang="en-US" sz="1550" dirty="0"/>
          </a:p>
        </p:txBody>
      </p:sp>
      <p:sp>
        <p:nvSpPr>
          <p:cNvPr id="16" name="Shape 14"/>
          <p:cNvSpPr/>
          <p:nvPr/>
        </p:nvSpPr>
        <p:spPr>
          <a:xfrm>
            <a:off x="868680" y="3483864"/>
            <a:ext cx="1828800" cy="658368"/>
          </a:xfrm>
          <a:prstGeom prst="roundRect">
            <a:avLst/>
          </a:prstGeom>
          <a:solidFill>
            <a:srgbClr val="9B51E0"/>
          </a:solidFill>
          <a:ln w="12700">
            <a:solidFill>
              <a:srgbClr val="9B51E0"/>
            </a:solidFill>
            <a:prstDash val="solid"/>
          </a:ln>
        </p:spPr>
      </p:sp>
      <p:sp>
        <p:nvSpPr>
          <p:cNvPr id="17" name="Text 15"/>
          <p:cNvSpPr/>
          <p:nvPr/>
        </p:nvSpPr>
        <p:spPr>
          <a:xfrm>
            <a:off x="960120" y="3666744"/>
            <a:ext cx="1645920" cy="182880"/>
          </a:xfrm>
          <a:prstGeom prst="rect">
            <a:avLst/>
          </a:prstGeom>
          <a:noFill/>
          <a:ln/>
        </p:spPr>
        <p:txBody>
          <a:bodyPr wrap="square" lIns="0" tIns="0" rIns="0" bIns="0" rtlCol="0" anchor="ctr"/>
          <a:lstStyle/>
          <a:p>
            <a:pPr algn="ctr" indent="0" marL="0">
              <a:buNone/>
            </a:pPr>
            <a:r>
              <a:rPr lang="en-US" sz="1400" b="1" dirty="0">
                <a:solidFill>
                  <a:srgbClr val="FFFFFF"/>
                </a:solidFill>
              </a:rPr>
              <a:t>Kant</a:t>
            </a:r>
            <a:endParaRPr lang="en-US" sz="1400" dirty="0"/>
          </a:p>
        </p:txBody>
      </p:sp>
      <p:sp>
        <p:nvSpPr>
          <p:cNvPr id="18" name="Shape 16"/>
          <p:cNvSpPr/>
          <p:nvPr/>
        </p:nvSpPr>
        <p:spPr>
          <a:xfrm>
            <a:off x="2971800" y="3483864"/>
            <a:ext cx="8183880" cy="658368"/>
          </a:xfrm>
          <a:prstGeom prst="roundRect">
            <a:avLst/>
          </a:prstGeom>
          <a:solidFill>
            <a:srgbClr val="FFFFFF"/>
          </a:solidFill>
          <a:ln w="12700">
            <a:solidFill>
              <a:srgbClr val="D1DAE6"/>
            </a:solidFill>
            <a:prstDash val="solid"/>
          </a:ln>
        </p:spPr>
      </p:sp>
      <p:sp>
        <p:nvSpPr>
          <p:cNvPr id="19" name="Text 17"/>
          <p:cNvSpPr/>
          <p:nvPr/>
        </p:nvSpPr>
        <p:spPr>
          <a:xfrm>
            <a:off x="3246120" y="3648456"/>
            <a:ext cx="7498080" cy="219456"/>
          </a:xfrm>
          <a:prstGeom prst="rect">
            <a:avLst/>
          </a:prstGeom>
          <a:noFill/>
          <a:ln/>
        </p:spPr>
        <p:txBody>
          <a:bodyPr wrap="square" lIns="0" tIns="0" rIns="0" bIns="0" rtlCol="0" anchor="ctr">
            <a:normAutofit/>
          </a:bodyPr>
          <a:lstStyle/>
          <a:p>
            <a:pPr indent="0" marL="0">
              <a:buNone/>
            </a:pPr>
            <a:r>
              <a:rPr lang="en-US" sz="1550" b="1" dirty="0">
                <a:solidFill>
                  <a:srgbClr val="1F2937"/>
                </a:solidFill>
              </a:rPr>
              <a:t>forme a priori ale intuiției</a:t>
            </a:r>
            <a:endParaRPr lang="en-US" sz="1550" dirty="0"/>
          </a:p>
        </p:txBody>
      </p:sp>
      <p:sp>
        <p:nvSpPr>
          <p:cNvPr id="20" name="Shape 18"/>
          <p:cNvSpPr/>
          <p:nvPr/>
        </p:nvSpPr>
        <p:spPr>
          <a:xfrm>
            <a:off x="868680" y="4562856"/>
            <a:ext cx="1828800" cy="658368"/>
          </a:xfrm>
          <a:prstGeom prst="roundRect">
            <a:avLst/>
          </a:prstGeom>
          <a:solidFill>
            <a:srgbClr val="EB5757"/>
          </a:solidFill>
          <a:ln w="12700">
            <a:solidFill>
              <a:srgbClr val="EB5757"/>
            </a:solidFill>
            <a:prstDash val="solid"/>
          </a:ln>
        </p:spPr>
      </p:sp>
      <p:sp>
        <p:nvSpPr>
          <p:cNvPr id="21" name="Text 19"/>
          <p:cNvSpPr/>
          <p:nvPr/>
        </p:nvSpPr>
        <p:spPr>
          <a:xfrm>
            <a:off x="960120" y="4745736"/>
            <a:ext cx="1645920" cy="182880"/>
          </a:xfrm>
          <a:prstGeom prst="rect">
            <a:avLst/>
          </a:prstGeom>
          <a:noFill/>
          <a:ln/>
        </p:spPr>
        <p:txBody>
          <a:bodyPr wrap="square" lIns="0" tIns="0" rIns="0" bIns="0" rtlCol="0" anchor="ctr"/>
          <a:lstStyle/>
          <a:p>
            <a:pPr algn="ctr" indent="0" marL="0">
              <a:buNone/>
            </a:pPr>
            <a:r>
              <a:rPr lang="en-US" sz="1400" b="1" dirty="0">
                <a:solidFill>
                  <a:srgbClr val="FFFFFF"/>
                </a:solidFill>
              </a:rPr>
              <a:t>Einstein</a:t>
            </a:r>
            <a:endParaRPr lang="en-US" sz="1400" dirty="0"/>
          </a:p>
        </p:txBody>
      </p:sp>
      <p:sp>
        <p:nvSpPr>
          <p:cNvPr id="22" name="Shape 20"/>
          <p:cNvSpPr/>
          <p:nvPr/>
        </p:nvSpPr>
        <p:spPr>
          <a:xfrm>
            <a:off x="2971800" y="4562856"/>
            <a:ext cx="8183880" cy="658368"/>
          </a:xfrm>
          <a:prstGeom prst="roundRect">
            <a:avLst/>
          </a:prstGeom>
          <a:solidFill>
            <a:srgbClr val="FFFFFF"/>
          </a:solidFill>
          <a:ln w="12700">
            <a:solidFill>
              <a:srgbClr val="D1DAE6"/>
            </a:solidFill>
            <a:prstDash val="solid"/>
          </a:ln>
        </p:spPr>
      </p:sp>
      <p:sp>
        <p:nvSpPr>
          <p:cNvPr id="23" name="Text 21"/>
          <p:cNvSpPr/>
          <p:nvPr/>
        </p:nvSpPr>
        <p:spPr>
          <a:xfrm>
            <a:off x="3246120" y="4727448"/>
            <a:ext cx="7498080" cy="219456"/>
          </a:xfrm>
          <a:prstGeom prst="rect">
            <a:avLst/>
          </a:prstGeom>
          <a:noFill/>
          <a:ln/>
        </p:spPr>
        <p:txBody>
          <a:bodyPr wrap="square" lIns="0" tIns="0" rIns="0" bIns="0" rtlCol="0" anchor="ctr">
            <a:normAutofit/>
          </a:bodyPr>
          <a:lstStyle/>
          <a:p>
            <a:pPr indent="0" marL="0">
              <a:buNone/>
            </a:pPr>
            <a:r>
              <a:rPr lang="en-US" sz="1550" b="1" dirty="0">
                <a:solidFill>
                  <a:srgbClr val="1F2937"/>
                </a:solidFill>
              </a:rPr>
              <a:t>măsurare relativă la observator</a:t>
            </a:r>
            <a:endParaRPr lang="en-US" sz="1550" dirty="0"/>
          </a:p>
        </p:txBody>
      </p:sp>
      <p:sp>
        <p:nvSpPr>
          <p:cNvPr id="24" name="Text 22"/>
          <p:cNvSpPr/>
          <p:nvPr/>
        </p:nvSpPr>
        <p:spPr>
          <a:xfrm>
            <a:off x="1051560" y="5715000"/>
            <a:ext cx="10058400" cy="329184"/>
          </a:xfrm>
          <a:prstGeom prst="rect">
            <a:avLst/>
          </a:prstGeom>
          <a:noFill/>
          <a:ln/>
        </p:spPr>
        <p:txBody>
          <a:bodyPr wrap="square" lIns="0" tIns="0" rIns="0" bIns="0" rtlCol="0" anchor="ctr">
            <a:normAutofit/>
          </a:bodyPr>
          <a:lstStyle/>
          <a:p>
            <a:pPr algn="ctr" indent="0" marL="0">
              <a:buNone/>
            </a:pPr>
            <a:r>
              <a:rPr lang="en-US" sz="1600" b="1" dirty="0">
                <a:solidFill>
                  <a:srgbClr val="0B1F33"/>
                </a:solidFill>
              </a:rPr>
              <a:t>Rolul filosofiei: clarifică sensurile termenilor și consecințele etice ale predicției, controlului și interpretării.</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2.7 Religie</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Religie: timpul liturgic și spațiul comuniunii</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10</a:t>
            </a:r>
            <a:endParaRPr lang="en-US" sz="780" dirty="0"/>
          </a:p>
        </p:txBody>
      </p:sp>
      <p:sp>
        <p:nvSpPr>
          <p:cNvPr id="8" name="Shape 6"/>
          <p:cNvSpPr/>
          <p:nvPr/>
        </p:nvSpPr>
        <p:spPr>
          <a:xfrm>
            <a:off x="777240" y="1280160"/>
            <a:ext cx="3429000" cy="3291840"/>
          </a:xfrm>
          <a:prstGeom prst="roundRect">
            <a:avLst>
              <a:gd name="adj" fmla="val 2222"/>
            </a:avLst>
          </a:prstGeom>
          <a:solidFill>
            <a:srgbClr val="FFFFFF"/>
          </a:solidFill>
          <a:ln w="13970">
            <a:solidFill>
              <a:srgbClr val="9B51E0"/>
            </a:solidFill>
            <a:prstDash val="solid"/>
          </a:ln>
        </p:spPr>
      </p:sp>
      <p:sp>
        <p:nvSpPr>
          <p:cNvPr id="9" name="Shape 7"/>
          <p:cNvSpPr/>
          <p:nvPr/>
        </p:nvSpPr>
        <p:spPr>
          <a:xfrm>
            <a:off x="777240" y="1280160"/>
            <a:ext cx="3429000" cy="347472"/>
          </a:xfrm>
          <a:prstGeom prst="rect">
            <a:avLst/>
          </a:prstGeom>
          <a:solidFill>
            <a:srgbClr val="9B51E0"/>
          </a:solidFill>
          <a:ln w="12700">
            <a:solidFill>
              <a:srgbClr val="9B51E0"/>
            </a:solidFill>
            <a:prstDash val="solid"/>
          </a:ln>
        </p:spPr>
      </p:sp>
      <p:sp>
        <p:nvSpPr>
          <p:cNvPr id="10" name="Text 8"/>
          <p:cNvSpPr/>
          <p:nvPr/>
        </p:nvSpPr>
        <p:spPr>
          <a:xfrm>
            <a:off x="914400" y="1371600"/>
            <a:ext cx="315468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Timp liturgic</a:t>
            </a:r>
            <a:endParaRPr lang="en-US" sz="930" dirty="0"/>
          </a:p>
        </p:txBody>
      </p:sp>
      <p:sp>
        <p:nvSpPr>
          <p:cNvPr id="11" name="Text 9"/>
          <p:cNvSpPr/>
          <p:nvPr/>
        </p:nvSpPr>
        <p:spPr>
          <a:xfrm>
            <a:off x="941832" y="1755648"/>
            <a:ext cx="3099816" cy="2724912"/>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ritm al sărbătorilor, perioadelor de pregătire, memoriei și reînnoirii</a:t>
            </a:r>
            <a:endParaRPr lang="en-US" sz="1500" dirty="0"/>
          </a:p>
        </p:txBody>
      </p:sp>
      <p:sp>
        <p:nvSpPr>
          <p:cNvPr id="12" name="Shape 10"/>
          <p:cNvSpPr/>
          <p:nvPr/>
        </p:nvSpPr>
        <p:spPr>
          <a:xfrm>
            <a:off x="4407408" y="1280160"/>
            <a:ext cx="3429000" cy="3291840"/>
          </a:xfrm>
          <a:prstGeom prst="roundRect">
            <a:avLst>
              <a:gd name="adj" fmla="val 2222"/>
            </a:avLst>
          </a:prstGeom>
          <a:solidFill>
            <a:srgbClr val="FFFFFF"/>
          </a:solidFill>
          <a:ln w="13970">
            <a:solidFill>
              <a:srgbClr val="2F80ED"/>
            </a:solidFill>
            <a:prstDash val="solid"/>
          </a:ln>
        </p:spPr>
      </p:sp>
      <p:sp>
        <p:nvSpPr>
          <p:cNvPr id="13" name="Shape 11"/>
          <p:cNvSpPr/>
          <p:nvPr/>
        </p:nvSpPr>
        <p:spPr>
          <a:xfrm>
            <a:off x="4407408" y="1280160"/>
            <a:ext cx="3429000" cy="347472"/>
          </a:xfrm>
          <a:prstGeom prst="rect">
            <a:avLst/>
          </a:prstGeom>
          <a:solidFill>
            <a:srgbClr val="2F80ED"/>
          </a:solidFill>
          <a:ln w="12700">
            <a:solidFill>
              <a:srgbClr val="2F80ED"/>
            </a:solidFill>
            <a:prstDash val="solid"/>
          </a:ln>
        </p:spPr>
      </p:sp>
      <p:sp>
        <p:nvSpPr>
          <p:cNvPr id="14" name="Text 12"/>
          <p:cNvSpPr/>
          <p:nvPr/>
        </p:nvSpPr>
        <p:spPr>
          <a:xfrm>
            <a:off x="4544568" y="1371600"/>
            <a:ext cx="315468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Timp istoric</a:t>
            </a:r>
            <a:endParaRPr lang="en-US" sz="930" dirty="0"/>
          </a:p>
        </p:txBody>
      </p:sp>
      <p:sp>
        <p:nvSpPr>
          <p:cNvPr id="15" name="Text 13"/>
          <p:cNvSpPr/>
          <p:nvPr/>
        </p:nvSpPr>
        <p:spPr>
          <a:xfrm>
            <a:off x="4572000" y="1755648"/>
            <a:ext cx="3099816" cy="2724912"/>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succesiune a evenimentelor concrete: comunități, tradiții, schimbări, mărturii</a:t>
            </a:r>
            <a:endParaRPr lang="en-US" sz="1500" dirty="0"/>
          </a:p>
        </p:txBody>
      </p:sp>
      <p:sp>
        <p:nvSpPr>
          <p:cNvPr id="16" name="Shape 14"/>
          <p:cNvSpPr/>
          <p:nvPr/>
        </p:nvSpPr>
        <p:spPr>
          <a:xfrm>
            <a:off x="8037576" y="1280160"/>
            <a:ext cx="3429000" cy="3291840"/>
          </a:xfrm>
          <a:prstGeom prst="roundRect">
            <a:avLst>
              <a:gd name="adj" fmla="val 2222"/>
            </a:avLst>
          </a:prstGeom>
          <a:solidFill>
            <a:srgbClr val="FFFFFF"/>
          </a:solidFill>
          <a:ln w="13970">
            <a:solidFill>
              <a:srgbClr val="24A19C"/>
            </a:solidFill>
            <a:prstDash val="solid"/>
          </a:ln>
        </p:spPr>
      </p:sp>
      <p:sp>
        <p:nvSpPr>
          <p:cNvPr id="17" name="Shape 15"/>
          <p:cNvSpPr/>
          <p:nvPr/>
        </p:nvSpPr>
        <p:spPr>
          <a:xfrm>
            <a:off x="8037576" y="1280160"/>
            <a:ext cx="3429000" cy="347472"/>
          </a:xfrm>
          <a:prstGeom prst="rect">
            <a:avLst/>
          </a:prstGeom>
          <a:solidFill>
            <a:srgbClr val="24A19C"/>
          </a:solidFill>
          <a:ln w="12700">
            <a:solidFill>
              <a:srgbClr val="24A19C"/>
            </a:solidFill>
            <a:prstDash val="solid"/>
          </a:ln>
        </p:spPr>
      </p:sp>
      <p:sp>
        <p:nvSpPr>
          <p:cNvPr id="18" name="Text 16"/>
          <p:cNvSpPr/>
          <p:nvPr/>
        </p:nvSpPr>
        <p:spPr>
          <a:xfrm>
            <a:off x="8174736" y="1371600"/>
            <a:ext cx="315468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Spațiul Bisericii</a:t>
            </a:r>
            <a:endParaRPr lang="en-US" sz="930" dirty="0"/>
          </a:p>
        </p:txBody>
      </p:sp>
      <p:sp>
        <p:nvSpPr>
          <p:cNvPr id="19" name="Text 17"/>
          <p:cNvSpPr/>
          <p:nvPr/>
        </p:nvSpPr>
        <p:spPr>
          <a:xfrm>
            <a:off x="8202168" y="1755648"/>
            <a:ext cx="3099816" cy="2724912"/>
          </a:xfrm>
          <a:prstGeom prst="rect">
            <a:avLst/>
          </a:prstGeom>
          <a:noFill/>
          <a:ln/>
        </p:spPr>
        <p:txBody>
          <a:bodyPr wrap="square" lIns="254" tIns="254" rIns="254" bIns="254" rtlCol="0" anchor="t">
            <a:normAutofit/>
          </a:bodyPr>
          <a:lstStyle/>
          <a:p>
            <a:pPr indent="0" marL="0">
              <a:buNone/>
            </a:pPr>
            <a:r>
              <a:rPr lang="en-US" sz="1500" dirty="0">
                <a:solidFill>
                  <a:srgbClr val="1F2937"/>
                </a:solidFill>
              </a:rPr>
              <a:t>loc arhitectural și simbolic, dar și spațiu al comuniunii credincioșilor</a:t>
            </a:r>
            <a:endParaRPr lang="en-US" sz="1500" dirty="0"/>
          </a:p>
        </p:txBody>
      </p:sp>
      <p:sp>
        <p:nvSpPr>
          <p:cNvPr id="20" name="Shape 18"/>
          <p:cNvSpPr/>
          <p:nvPr/>
        </p:nvSpPr>
        <p:spPr>
          <a:xfrm>
            <a:off x="1143000" y="5074920"/>
            <a:ext cx="9921240" cy="566928"/>
          </a:xfrm>
          <a:prstGeom prst="roundRect">
            <a:avLst/>
          </a:prstGeom>
          <a:solidFill>
            <a:srgbClr val="FFFFFF"/>
          </a:solidFill>
          <a:ln w="12700">
            <a:solidFill>
              <a:srgbClr val="D1DAE6"/>
            </a:solidFill>
            <a:prstDash val="solid"/>
          </a:ln>
        </p:spPr>
      </p:sp>
      <p:sp>
        <p:nvSpPr>
          <p:cNvPr id="21" name="Text 19"/>
          <p:cNvSpPr/>
          <p:nvPr/>
        </p:nvSpPr>
        <p:spPr>
          <a:xfrm>
            <a:off x="1325880" y="5266944"/>
            <a:ext cx="9555480" cy="182880"/>
          </a:xfrm>
          <a:prstGeom prst="rect">
            <a:avLst/>
          </a:prstGeom>
          <a:noFill/>
          <a:ln/>
        </p:spPr>
        <p:txBody>
          <a:bodyPr wrap="square" lIns="0" tIns="0" rIns="0" bIns="0" rtlCol="0" anchor="ctr"/>
          <a:lstStyle/>
          <a:p>
            <a:pPr algn="ctr" indent="0" marL="0">
              <a:buNone/>
            </a:pPr>
            <a:r>
              <a:rPr lang="en-US" sz="1650" b="1" dirty="0">
                <a:solidFill>
                  <a:srgbClr val="0B1F33"/>
                </a:solidFill>
              </a:rPr>
              <a:t>Spațiul și timpul devin purtătoare de sens, memorie și responsabilitate.</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2.8 Informatică</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Informatică: poate IA „vedea” viitorul?</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11</a:t>
            </a:r>
            <a:endParaRPr lang="en-US" sz="780" dirty="0"/>
          </a:p>
        </p:txBody>
      </p:sp>
      <p:sp>
        <p:nvSpPr>
          <p:cNvPr id="8" name="Shape 6"/>
          <p:cNvSpPr/>
          <p:nvPr/>
        </p:nvSpPr>
        <p:spPr>
          <a:xfrm>
            <a:off x="566928" y="1645920"/>
            <a:ext cx="1920240" cy="2011680"/>
          </a:xfrm>
          <a:prstGeom prst="roundRect">
            <a:avLst>
              <a:gd name="adj" fmla="val 3810"/>
            </a:avLst>
          </a:prstGeom>
          <a:solidFill>
            <a:srgbClr val="FFFFFF"/>
          </a:solidFill>
          <a:ln w="13970">
            <a:solidFill>
              <a:srgbClr val="2F80ED"/>
            </a:solidFill>
            <a:prstDash val="solid"/>
          </a:ln>
        </p:spPr>
      </p:sp>
      <p:sp>
        <p:nvSpPr>
          <p:cNvPr id="9" name="Shape 7"/>
          <p:cNvSpPr/>
          <p:nvPr/>
        </p:nvSpPr>
        <p:spPr>
          <a:xfrm>
            <a:off x="566928" y="1645920"/>
            <a:ext cx="1920240" cy="347472"/>
          </a:xfrm>
          <a:prstGeom prst="rect">
            <a:avLst/>
          </a:prstGeom>
          <a:solidFill>
            <a:srgbClr val="2F80ED"/>
          </a:solidFill>
          <a:ln w="12700">
            <a:solidFill>
              <a:srgbClr val="2F80ED"/>
            </a:solidFill>
            <a:prstDash val="solid"/>
          </a:ln>
        </p:spPr>
      </p:sp>
      <p:sp>
        <p:nvSpPr>
          <p:cNvPr id="10" name="Text 8"/>
          <p:cNvSpPr/>
          <p:nvPr/>
        </p:nvSpPr>
        <p:spPr>
          <a:xfrm>
            <a:off x="704088" y="1737360"/>
            <a:ext cx="1645920" cy="146304"/>
          </a:xfrm>
          <a:prstGeom prst="rect">
            <a:avLst/>
          </a:prstGeom>
          <a:noFill/>
          <a:ln/>
        </p:spPr>
        <p:txBody>
          <a:bodyPr wrap="square" lIns="0" tIns="0" rIns="0" bIns="0" rtlCol="0" anchor="ctr">
            <a:normAutofit/>
          </a:bodyPr>
          <a:lstStyle/>
          <a:p>
            <a:pPr indent="0" marL="0">
              <a:buNone/>
            </a:pPr>
            <a:r>
              <a:rPr lang="en-US" sz="900" b="1" dirty="0">
                <a:solidFill>
                  <a:srgbClr val="FFFFFF"/>
                </a:solidFill>
              </a:rPr>
              <a:t>Date trecute</a:t>
            </a:r>
            <a:endParaRPr lang="en-US" sz="900" dirty="0"/>
          </a:p>
        </p:txBody>
      </p:sp>
      <p:sp>
        <p:nvSpPr>
          <p:cNvPr id="11" name="Text 9"/>
          <p:cNvSpPr/>
          <p:nvPr/>
        </p:nvSpPr>
        <p:spPr>
          <a:xfrm>
            <a:off x="731520" y="2121408"/>
            <a:ext cx="1591056" cy="1444752"/>
          </a:xfrm>
          <a:prstGeom prst="rect">
            <a:avLst/>
          </a:prstGeom>
          <a:noFill/>
          <a:ln/>
        </p:spPr>
        <p:txBody>
          <a:bodyPr wrap="square" lIns="254" tIns="254" rIns="254" bIns="254" rtlCol="0" anchor="t">
            <a:normAutofit/>
          </a:bodyPr>
          <a:lstStyle/>
          <a:p>
            <a:pPr indent="0" marL="0">
              <a:buNone/>
            </a:pPr>
            <a:r>
              <a:rPr lang="en-US" sz="1300" dirty="0">
                <a:solidFill>
                  <a:srgbClr val="1F2937"/>
                </a:solidFill>
              </a:rPr>
              <a:t>serii istorice</a:t>
            </a:r>
            <a:endParaRPr lang="en-US" sz="1300" dirty="0"/>
          </a:p>
          <a:p>
            <a:pPr indent="0" marL="0">
              <a:buNone/>
            </a:pPr>
            <a:r>
              <a:rPr lang="en-US" sz="1300" dirty="0">
                <a:solidFill>
                  <a:srgbClr val="1F2937"/>
                </a:solidFill>
              </a:rPr>
              <a:t>imagini</a:t>
            </a:r>
            <a:endParaRPr lang="en-US" sz="1300" dirty="0"/>
          </a:p>
          <a:p>
            <a:pPr indent="0" marL="0">
              <a:buNone/>
            </a:pPr>
            <a:r>
              <a:rPr lang="en-US" sz="1300" dirty="0">
                <a:solidFill>
                  <a:srgbClr val="1F2937"/>
                </a:solidFill>
              </a:rPr>
              <a:t>măsurători</a:t>
            </a:r>
            <a:endParaRPr lang="en-US" sz="1300" dirty="0"/>
          </a:p>
        </p:txBody>
      </p:sp>
      <p:sp>
        <p:nvSpPr>
          <p:cNvPr id="12" name="Shape 10"/>
          <p:cNvSpPr/>
          <p:nvPr/>
        </p:nvSpPr>
        <p:spPr>
          <a:xfrm>
            <a:off x="2505456" y="2359152"/>
            <a:ext cx="365760" cy="320040"/>
          </a:xfrm>
          <a:prstGeom prst="rightArrow">
            <a:avLst/>
          </a:prstGeom>
          <a:solidFill>
            <a:srgbClr val="E8EEF5"/>
          </a:solidFill>
          <a:ln w="12700">
            <a:solidFill>
              <a:srgbClr val="E8EEF5"/>
            </a:solidFill>
            <a:prstDash val="solid"/>
          </a:ln>
        </p:spPr>
      </p:sp>
      <p:sp>
        <p:nvSpPr>
          <p:cNvPr id="13" name="Shape 11"/>
          <p:cNvSpPr/>
          <p:nvPr/>
        </p:nvSpPr>
        <p:spPr>
          <a:xfrm>
            <a:off x="2898648" y="1645920"/>
            <a:ext cx="1920240" cy="2011680"/>
          </a:xfrm>
          <a:prstGeom prst="roundRect">
            <a:avLst>
              <a:gd name="adj" fmla="val 3810"/>
            </a:avLst>
          </a:prstGeom>
          <a:solidFill>
            <a:srgbClr val="FFFFFF"/>
          </a:solidFill>
          <a:ln w="13970">
            <a:solidFill>
              <a:srgbClr val="24A19C"/>
            </a:solidFill>
            <a:prstDash val="solid"/>
          </a:ln>
        </p:spPr>
      </p:sp>
      <p:sp>
        <p:nvSpPr>
          <p:cNvPr id="14" name="Shape 12"/>
          <p:cNvSpPr/>
          <p:nvPr/>
        </p:nvSpPr>
        <p:spPr>
          <a:xfrm>
            <a:off x="2898648" y="1645920"/>
            <a:ext cx="1920240" cy="347472"/>
          </a:xfrm>
          <a:prstGeom prst="rect">
            <a:avLst/>
          </a:prstGeom>
          <a:solidFill>
            <a:srgbClr val="24A19C"/>
          </a:solidFill>
          <a:ln w="12700">
            <a:solidFill>
              <a:srgbClr val="24A19C"/>
            </a:solidFill>
            <a:prstDash val="solid"/>
          </a:ln>
        </p:spPr>
      </p:sp>
      <p:sp>
        <p:nvSpPr>
          <p:cNvPr id="15" name="Text 13"/>
          <p:cNvSpPr/>
          <p:nvPr/>
        </p:nvSpPr>
        <p:spPr>
          <a:xfrm>
            <a:off x="3035808" y="1737360"/>
            <a:ext cx="1645920" cy="146304"/>
          </a:xfrm>
          <a:prstGeom prst="rect">
            <a:avLst/>
          </a:prstGeom>
          <a:noFill/>
          <a:ln/>
        </p:spPr>
        <p:txBody>
          <a:bodyPr wrap="square" lIns="0" tIns="0" rIns="0" bIns="0" rtlCol="0" anchor="ctr">
            <a:normAutofit/>
          </a:bodyPr>
          <a:lstStyle/>
          <a:p>
            <a:pPr indent="0" marL="0">
              <a:buNone/>
            </a:pPr>
            <a:r>
              <a:rPr lang="en-US" sz="900" b="1" dirty="0">
                <a:solidFill>
                  <a:srgbClr val="FFFFFF"/>
                </a:solidFill>
              </a:rPr>
              <a:t>Model</a:t>
            </a:r>
            <a:endParaRPr lang="en-US" sz="900" dirty="0"/>
          </a:p>
        </p:txBody>
      </p:sp>
      <p:sp>
        <p:nvSpPr>
          <p:cNvPr id="16" name="Text 14"/>
          <p:cNvSpPr/>
          <p:nvPr/>
        </p:nvSpPr>
        <p:spPr>
          <a:xfrm>
            <a:off x="3063240" y="2121408"/>
            <a:ext cx="1591056" cy="1444752"/>
          </a:xfrm>
          <a:prstGeom prst="rect">
            <a:avLst/>
          </a:prstGeom>
          <a:noFill/>
          <a:ln/>
        </p:spPr>
        <p:txBody>
          <a:bodyPr wrap="square" lIns="254" tIns="254" rIns="254" bIns="254" rtlCol="0" anchor="t">
            <a:normAutofit/>
          </a:bodyPr>
          <a:lstStyle/>
          <a:p>
            <a:pPr indent="0" marL="0">
              <a:buNone/>
            </a:pPr>
            <a:r>
              <a:rPr lang="en-US" sz="1300" dirty="0">
                <a:solidFill>
                  <a:srgbClr val="1F2937"/>
                </a:solidFill>
              </a:rPr>
              <a:t>algoritm</a:t>
            </a:r>
            <a:endParaRPr lang="en-US" sz="1300" dirty="0"/>
          </a:p>
          <a:p>
            <a:pPr indent="0" marL="0">
              <a:buNone/>
            </a:pPr>
            <a:r>
              <a:rPr lang="en-US" sz="1300" dirty="0">
                <a:solidFill>
                  <a:srgbClr val="1F2937"/>
                </a:solidFill>
              </a:rPr>
              <a:t>învățare</a:t>
            </a:r>
            <a:endParaRPr lang="en-US" sz="1300" dirty="0"/>
          </a:p>
          <a:p>
            <a:pPr indent="0" marL="0">
              <a:buNone/>
            </a:pPr>
            <a:r>
              <a:rPr lang="en-US" sz="1300" dirty="0">
                <a:solidFill>
                  <a:srgbClr val="1F2937"/>
                </a:solidFill>
              </a:rPr>
              <a:t>tipare</a:t>
            </a:r>
            <a:endParaRPr lang="en-US" sz="1300" dirty="0"/>
          </a:p>
        </p:txBody>
      </p:sp>
      <p:sp>
        <p:nvSpPr>
          <p:cNvPr id="17" name="Shape 15"/>
          <p:cNvSpPr/>
          <p:nvPr/>
        </p:nvSpPr>
        <p:spPr>
          <a:xfrm>
            <a:off x="4837176" y="2359152"/>
            <a:ext cx="365760" cy="320040"/>
          </a:xfrm>
          <a:prstGeom prst="rightArrow">
            <a:avLst/>
          </a:prstGeom>
          <a:solidFill>
            <a:srgbClr val="E8EEF5"/>
          </a:solidFill>
          <a:ln w="12700">
            <a:solidFill>
              <a:srgbClr val="E8EEF5"/>
            </a:solidFill>
            <a:prstDash val="solid"/>
          </a:ln>
        </p:spPr>
      </p:sp>
      <p:sp>
        <p:nvSpPr>
          <p:cNvPr id="18" name="Shape 16"/>
          <p:cNvSpPr/>
          <p:nvPr/>
        </p:nvSpPr>
        <p:spPr>
          <a:xfrm>
            <a:off x="5230368" y="1645920"/>
            <a:ext cx="1920240" cy="2011680"/>
          </a:xfrm>
          <a:prstGeom prst="roundRect">
            <a:avLst>
              <a:gd name="adj" fmla="val 3810"/>
            </a:avLst>
          </a:prstGeom>
          <a:solidFill>
            <a:srgbClr val="FFFFFF"/>
          </a:solidFill>
          <a:ln w="13970">
            <a:solidFill>
              <a:srgbClr val="9B51E0"/>
            </a:solidFill>
            <a:prstDash val="solid"/>
          </a:ln>
        </p:spPr>
      </p:sp>
      <p:sp>
        <p:nvSpPr>
          <p:cNvPr id="19" name="Shape 17"/>
          <p:cNvSpPr/>
          <p:nvPr/>
        </p:nvSpPr>
        <p:spPr>
          <a:xfrm>
            <a:off x="5230368" y="1645920"/>
            <a:ext cx="1920240" cy="347472"/>
          </a:xfrm>
          <a:prstGeom prst="rect">
            <a:avLst/>
          </a:prstGeom>
          <a:solidFill>
            <a:srgbClr val="9B51E0"/>
          </a:solidFill>
          <a:ln w="12700">
            <a:solidFill>
              <a:srgbClr val="9B51E0"/>
            </a:solidFill>
            <a:prstDash val="solid"/>
          </a:ln>
        </p:spPr>
      </p:sp>
      <p:sp>
        <p:nvSpPr>
          <p:cNvPr id="20" name="Text 18"/>
          <p:cNvSpPr/>
          <p:nvPr/>
        </p:nvSpPr>
        <p:spPr>
          <a:xfrm>
            <a:off x="5367528" y="1737360"/>
            <a:ext cx="1645920" cy="146304"/>
          </a:xfrm>
          <a:prstGeom prst="rect">
            <a:avLst/>
          </a:prstGeom>
          <a:noFill/>
          <a:ln/>
        </p:spPr>
        <p:txBody>
          <a:bodyPr wrap="square" lIns="0" tIns="0" rIns="0" bIns="0" rtlCol="0" anchor="ctr">
            <a:normAutofit/>
          </a:bodyPr>
          <a:lstStyle/>
          <a:p>
            <a:pPr indent="0" marL="0">
              <a:buNone/>
            </a:pPr>
            <a:r>
              <a:rPr lang="en-US" sz="900" b="1" dirty="0">
                <a:solidFill>
                  <a:srgbClr val="FFFFFF"/>
                </a:solidFill>
              </a:rPr>
              <a:t>Predicție</a:t>
            </a:r>
            <a:endParaRPr lang="en-US" sz="900" dirty="0"/>
          </a:p>
        </p:txBody>
      </p:sp>
      <p:sp>
        <p:nvSpPr>
          <p:cNvPr id="21" name="Text 19"/>
          <p:cNvSpPr/>
          <p:nvPr/>
        </p:nvSpPr>
        <p:spPr>
          <a:xfrm>
            <a:off x="5394960" y="2121408"/>
            <a:ext cx="1591056" cy="1444752"/>
          </a:xfrm>
          <a:prstGeom prst="rect">
            <a:avLst/>
          </a:prstGeom>
          <a:noFill/>
          <a:ln/>
        </p:spPr>
        <p:txBody>
          <a:bodyPr wrap="square" lIns="254" tIns="254" rIns="254" bIns="254" rtlCol="0" anchor="t">
            <a:normAutofit/>
          </a:bodyPr>
          <a:lstStyle/>
          <a:p>
            <a:pPr indent="0" marL="0">
              <a:buNone/>
            </a:pPr>
            <a:r>
              <a:rPr lang="en-US" sz="1300" dirty="0">
                <a:solidFill>
                  <a:srgbClr val="1F2937"/>
                </a:solidFill>
              </a:rPr>
              <a:t>probabilități</a:t>
            </a:r>
            <a:endParaRPr lang="en-US" sz="1300" dirty="0"/>
          </a:p>
          <a:p>
            <a:pPr indent="0" marL="0">
              <a:buNone/>
            </a:pPr>
            <a:r>
              <a:rPr lang="en-US" sz="1300" dirty="0">
                <a:solidFill>
                  <a:srgbClr val="1F2937"/>
                </a:solidFill>
              </a:rPr>
              <a:t>scenarii</a:t>
            </a:r>
            <a:endParaRPr lang="en-US" sz="1300" dirty="0"/>
          </a:p>
          <a:p>
            <a:pPr indent="0" marL="0">
              <a:buNone/>
            </a:pPr>
            <a:r>
              <a:rPr lang="en-US" sz="1300" dirty="0">
                <a:solidFill>
                  <a:srgbClr val="1F2937"/>
                </a:solidFill>
              </a:rPr>
              <a:t>tendințe</a:t>
            </a:r>
            <a:endParaRPr lang="en-US" sz="1300" dirty="0"/>
          </a:p>
        </p:txBody>
      </p:sp>
      <p:sp>
        <p:nvSpPr>
          <p:cNvPr id="22" name="Shape 20"/>
          <p:cNvSpPr/>
          <p:nvPr/>
        </p:nvSpPr>
        <p:spPr>
          <a:xfrm>
            <a:off x="7168896" y="2359152"/>
            <a:ext cx="365760" cy="320040"/>
          </a:xfrm>
          <a:prstGeom prst="rightArrow">
            <a:avLst/>
          </a:prstGeom>
          <a:solidFill>
            <a:srgbClr val="E8EEF5"/>
          </a:solidFill>
          <a:ln w="12700">
            <a:solidFill>
              <a:srgbClr val="E8EEF5"/>
            </a:solidFill>
            <a:prstDash val="solid"/>
          </a:ln>
        </p:spPr>
      </p:sp>
      <p:sp>
        <p:nvSpPr>
          <p:cNvPr id="23" name="Shape 21"/>
          <p:cNvSpPr/>
          <p:nvPr/>
        </p:nvSpPr>
        <p:spPr>
          <a:xfrm>
            <a:off x="7562088" y="1645920"/>
            <a:ext cx="1920240" cy="2011680"/>
          </a:xfrm>
          <a:prstGeom prst="roundRect">
            <a:avLst>
              <a:gd name="adj" fmla="val 3810"/>
            </a:avLst>
          </a:prstGeom>
          <a:solidFill>
            <a:srgbClr val="FFFFFF"/>
          </a:solidFill>
          <a:ln w="13970">
            <a:solidFill>
              <a:srgbClr val="27AE60"/>
            </a:solidFill>
            <a:prstDash val="solid"/>
          </a:ln>
        </p:spPr>
      </p:sp>
      <p:sp>
        <p:nvSpPr>
          <p:cNvPr id="24" name="Shape 22"/>
          <p:cNvSpPr/>
          <p:nvPr/>
        </p:nvSpPr>
        <p:spPr>
          <a:xfrm>
            <a:off x="7562088" y="1645920"/>
            <a:ext cx="1920240" cy="347472"/>
          </a:xfrm>
          <a:prstGeom prst="rect">
            <a:avLst/>
          </a:prstGeom>
          <a:solidFill>
            <a:srgbClr val="27AE60"/>
          </a:solidFill>
          <a:ln w="12700">
            <a:solidFill>
              <a:srgbClr val="27AE60"/>
            </a:solidFill>
            <a:prstDash val="solid"/>
          </a:ln>
        </p:spPr>
      </p:sp>
      <p:sp>
        <p:nvSpPr>
          <p:cNvPr id="25" name="Text 23"/>
          <p:cNvSpPr/>
          <p:nvPr/>
        </p:nvSpPr>
        <p:spPr>
          <a:xfrm>
            <a:off x="7699248" y="1737360"/>
            <a:ext cx="1645920" cy="146304"/>
          </a:xfrm>
          <a:prstGeom prst="rect">
            <a:avLst/>
          </a:prstGeom>
          <a:noFill/>
          <a:ln/>
        </p:spPr>
        <p:txBody>
          <a:bodyPr wrap="square" lIns="0" tIns="0" rIns="0" bIns="0" rtlCol="0" anchor="ctr">
            <a:normAutofit/>
          </a:bodyPr>
          <a:lstStyle/>
          <a:p>
            <a:pPr indent="0" marL="0">
              <a:buNone/>
            </a:pPr>
            <a:r>
              <a:rPr lang="en-US" sz="900" b="1" dirty="0">
                <a:solidFill>
                  <a:srgbClr val="FFFFFF"/>
                </a:solidFill>
              </a:rPr>
              <a:t>Validare</a:t>
            </a:r>
            <a:endParaRPr lang="en-US" sz="900" dirty="0"/>
          </a:p>
        </p:txBody>
      </p:sp>
      <p:sp>
        <p:nvSpPr>
          <p:cNvPr id="26" name="Text 24"/>
          <p:cNvSpPr/>
          <p:nvPr/>
        </p:nvSpPr>
        <p:spPr>
          <a:xfrm>
            <a:off x="7726680" y="2121408"/>
            <a:ext cx="1591056" cy="1444752"/>
          </a:xfrm>
          <a:prstGeom prst="rect">
            <a:avLst/>
          </a:prstGeom>
          <a:noFill/>
          <a:ln/>
        </p:spPr>
        <p:txBody>
          <a:bodyPr wrap="square" lIns="254" tIns="254" rIns="254" bIns="254" rtlCol="0" anchor="t">
            <a:normAutofit/>
          </a:bodyPr>
          <a:lstStyle/>
          <a:p>
            <a:pPr indent="0" marL="0">
              <a:buNone/>
            </a:pPr>
            <a:r>
              <a:rPr lang="en-US" sz="1300" dirty="0">
                <a:solidFill>
                  <a:srgbClr val="1F2937"/>
                </a:solidFill>
              </a:rPr>
              <a:t>date reale</a:t>
            </a:r>
            <a:endParaRPr lang="en-US" sz="1300" dirty="0"/>
          </a:p>
          <a:p>
            <a:pPr indent="0" marL="0">
              <a:buNone/>
            </a:pPr>
            <a:r>
              <a:rPr lang="en-US" sz="1300" dirty="0">
                <a:solidFill>
                  <a:srgbClr val="1F2937"/>
                </a:solidFill>
              </a:rPr>
              <a:t>comparare</a:t>
            </a:r>
            <a:endParaRPr lang="en-US" sz="1300" dirty="0"/>
          </a:p>
          <a:p>
            <a:pPr indent="0" marL="0">
              <a:buNone/>
            </a:pPr>
            <a:r>
              <a:rPr lang="en-US" sz="1300" dirty="0">
                <a:solidFill>
                  <a:srgbClr val="1F2937"/>
                </a:solidFill>
              </a:rPr>
              <a:t>corectare</a:t>
            </a:r>
            <a:endParaRPr lang="en-US" sz="1300" dirty="0"/>
          </a:p>
        </p:txBody>
      </p:sp>
      <p:sp>
        <p:nvSpPr>
          <p:cNvPr id="27" name="Shape 25"/>
          <p:cNvSpPr/>
          <p:nvPr/>
        </p:nvSpPr>
        <p:spPr>
          <a:xfrm>
            <a:off x="9500616" y="2359152"/>
            <a:ext cx="365760" cy="320040"/>
          </a:xfrm>
          <a:prstGeom prst="rightArrow">
            <a:avLst/>
          </a:prstGeom>
          <a:solidFill>
            <a:srgbClr val="E8EEF5"/>
          </a:solidFill>
          <a:ln w="12700">
            <a:solidFill>
              <a:srgbClr val="E8EEF5"/>
            </a:solidFill>
            <a:prstDash val="solid"/>
          </a:ln>
        </p:spPr>
      </p:sp>
      <p:sp>
        <p:nvSpPr>
          <p:cNvPr id="28" name="Shape 26"/>
          <p:cNvSpPr/>
          <p:nvPr/>
        </p:nvSpPr>
        <p:spPr>
          <a:xfrm>
            <a:off x="9893808" y="1645920"/>
            <a:ext cx="1920240" cy="2011680"/>
          </a:xfrm>
          <a:prstGeom prst="roundRect">
            <a:avLst>
              <a:gd name="adj" fmla="val 3810"/>
            </a:avLst>
          </a:prstGeom>
          <a:solidFill>
            <a:srgbClr val="FFFFFF"/>
          </a:solidFill>
          <a:ln w="13970">
            <a:solidFill>
              <a:srgbClr val="F2C94C"/>
            </a:solidFill>
            <a:prstDash val="solid"/>
          </a:ln>
        </p:spPr>
      </p:sp>
      <p:sp>
        <p:nvSpPr>
          <p:cNvPr id="29" name="Shape 27"/>
          <p:cNvSpPr/>
          <p:nvPr/>
        </p:nvSpPr>
        <p:spPr>
          <a:xfrm>
            <a:off x="9893808" y="1645920"/>
            <a:ext cx="1920240" cy="347472"/>
          </a:xfrm>
          <a:prstGeom prst="rect">
            <a:avLst/>
          </a:prstGeom>
          <a:solidFill>
            <a:srgbClr val="F2C94C"/>
          </a:solidFill>
          <a:ln w="12700">
            <a:solidFill>
              <a:srgbClr val="F2C94C"/>
            </a:solidFill>
            <a:prstDash val="solid"/>
          </a:ln>
        </p:spPr>
      </p:sp>
      <p:sp>
        <p:nvSpPr>
          <p:cNvPr id="30" name="Text 28"/>
          <p:cNvSpPr/>
          <p:nvPr/>
        </p:nvSpPr>
        <p:spPr>
          <a:xfrm>
            <a:off x="10030968" y="1737360"/>
            <a:ext cx="1645920" cy="146304"/>
          </a:xfrm>
          <a:prstGeom prst="rect">
            <a:avLst/>
          </a:prstGeom>
          <a:noFill/>
          <a:ln/>
        </p:spPr>
        <p:txBody>
          <a:bodyPr wrap="square" lIns="0" tIns="0" rIns="0" bIns="0" rtlCol="0" anchor="ctr">
            <a:normAutofit/>
          </a:bodyPr>
          <a:lstStyle/>
          <a:p>
            <a:pPr indent="0" marL="0">
              <a:buNone/>
            </a:pPr>
            <a:r>
              <a:rPr lang="en-US" sz="900" b="1" dirty="0">
                <a:solidFill>
                  <a:srgbClr val="FFFFFF"/>
                </a:solidFill>
              </a:rPr>
              <a:t>Decizie</a:t>
            </a:r>
            <a:endParaRPr lang="en-US" sz="900" dirty="0"/>
          </a:p>
        </p:txBody>
      </p:sp>
      <p:sp>
        <p:nvSpPr>
          <p:cNvPr id="31" name="Text 29"/>
          <p:cNvSpPr/>
          <p:nvPr/>
        </p:nvSpPr>
        <p:spPr>
          <a:xfrm>
            <a:off x="10058400" y="2121408"/>
            <a:ext cx="1591056" cy="1444752"/>
          </a:xfrm>
          <a:prstGeom prst="rect">
            <a:avLst/>
          </a:prstGeom>
          <a:noFill/>
          <a:ln/>
        </p:spPr>
        <p:txBody>
          <a:bodyPr wrap="square" lIns="254" tIns="254" rIns="254" bIns="254" rtlCol="0" anchor="t">
            <a:normAutofit/>
          </a:bodyPr>
          <a:lstStyle/>
          <a:p>
            <a:pPr indent="0" marL="0">
              <a:buNone/>
            </a:pPr>
            <a:r>
              <a:rPr lang="en-US" sz="1300" dirty="0">
                <a:solidFill>
                  <a:srgbClr val="1F2937"/>
                </a:solidFill>
              </a:rPr>
              <a:t>prudență</a:t>
            </a:r>
            <a:endParaRPr lang="en-US" sz="1300" dirty="0"/>
          </a:p>
          <a:p>
            <a:pPr indent="0" marL="0">
              <a:buNone/>
            </a:pPr>
            <a:r>
              <a:rPr lang="en-US" sz="1300" dirty="0">
                <a:solidFill>
                  <a:srgbClr val="1F2937"/>
                </a:solidFill>
              </a:rPr>
              <a:t>control uman</a:t>
            </a:r>
            <a:endParaRPr lang="en-US" sz="1300" dirty="0"/>
          </a:p>
          <a:p>
            <a:pPr indent="0" marL="0">
              <a:buNone/>
            </a:pPr>
            <a:r>
              <a:rPr lang="en-US" sz="1300" dirty="0">
                <a:solidFill>
                  <a:srgbClr val="1F2937"/>
                </a:solidFill>
              </a:rPr>
              <a:t>etică</a:t>
            </a:r>
            <a:endParaRPr lang="en-US" sz="1300" dirty="0"/>
          </a:p>
        </p:txBody>
      </p:sp>
      <p:sp>
        <p:nvSpPr>
          <p:cNvPr id="32" name="Shape 30"/>
          <p:cNvSpPr/>
          <p:nvPr/>
        </p:nvSpPr>
        <p:spPr>
          <a:xfrm>
            <a:off x="914400" y="4251960"/>
            <a:ext cx="10378440" cy="1143000"/>
          </a:xfrm>
          <a:prstGeom prst="roundRect">
            <a:avLst>
              <a:gd name="adj" fmla="val 6400"/>
            </a:avLst>
          </a:prstGeom>
          <a:solidFill>
            <a:srgbClr val="FFFFFF"/>
          </a:solidFill>
          <a:ln w="8890">
            <a:solidFill>
              <a:srgbClr val="D1DAE6"/>
            </a:solidFill>
            <a:prstDash val="solid"/>
          </a:ln>
        </p:spPr>
      </p:sp>
      <p:sp>
        <p:nvSpPr>
          <p:cNvPr id="33" name="Text 31"/>
          <p:cNvSpPr/>
          <p:nvPr/>
        </p:nvSpPr>
        <p:spPr>
          <a:xfrm>
            <a:off x="1115568" y="4434840"/>
            <a:ext cx="10030968" cy="822960"/>
          </a:xfrm>
          <a:prstGeom prst="rect">
            <a:avLst/>
          </a:prstGeom>
          <a:noFill/>
          <a:ln/>
        </p:spPr>
        <p:txBody>
          <a:bodyPr wrap="square" lIns="254" tIns="254" rIns="254" bIns="254" rtlCol="0" anchor="ctr">
            <a:normAutofit/>
          </a:bodyPr>
          <a:lstStyle/>
          <a:p>
            <a:pPr indent="0" marL="0">
              <a:buNone/>
            </a:pPr>
            <a:r>
              <a:rPr lang="en-US" sz="1500" dirty="0">
                <a:solidFill>
                  <a:srgbClr val="1F2937"/>
                </a:solidFill>
              </a:rPr>
              <a:t>• IA nu cunoaște viitorul cu certitudine; ea estimează probabilități pe baza datelor și ipotezelor.</a:t>
            </a:r>
            <a:endParaRPr lang="en-US" sz="1500" dirty="0"/>
          </a:p>
          <a:p>
            <a:pPr indent="0" marL="0">
              <a:buNone/>
            </a:pPr>
            <a:r>
              <a:rPr lang="en-US" sz="1500" dirty="0">
                <a:solidFill>
                  <a:srgbClr val="1F2937"/>
                </a:solidFill>
              </a:rPr>
              <a:t>• Riscuri: date incomplete, părtinire, schimbări bruște, modele opace.</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Conexiuni</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Sinteză: ce aduce fiecare disciplină?</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12</a:t>
            </a:r>
            <a:endParaRPr lang="en-US" sz="780" dirty="0"/>
          </a:p>
        </p:txBody>
      </p:sp>
      <p:sp>
        <p:nvSpPr>
          <p:cNvPr id="8" name="Shape 6"/>
          <p:cNvSpPr/>
          <p:nvPr/>
        </p:nvSpPr>
        <p:spPr>
          <a:xfrm>
            <a:off x="777240" y="1325880"/>
            <a:ext cx="5166360" cy="786384"/>
          </a:xfrm>
          <a:prstGeom prst="roundRect">
            <a:avLst/>
          </a:prstGeom>
          <a:solidFill>
            <a:srgbClr val="FFFFFF"/>
          </a:solidFill>
          <a:ln w="12700">
            <a:solidFill>
              <a:srgbClr val="D1DAE6"/>
            </a:solidFill>
            <a:prstDash val="solid"/>
          </a:ln>
        </p:spPr>
      </p:sp>
      <p:sp>
        <p:nvSpPr>
          <p:cNvPr id="9" name="Shape 7"/>
          <p:cNvSpPr/>
          <p:nvPr/>
        </p:nvSpPr>
        <p:spPr>
          <a:xfrm>
            <a:off x="777240" y="1325880"/>
            <a:ext cx="1325880" cy="786384"/>
          </a:xfrm>
          <a:prstGeom prst="rect">
            <a:avLst/>
          </a:prstGeom>
          <a:solidFill>
            <a:srgbClr val="2F80ED"/>
          </a:solidFill>
          <a:ln w="12700">
            <a:solidFill>
              <a:srgbClr val="2F80ED"/>
            </a:solidFill>
            <a:prstDash val="solid"/>
          </a:ln>
        </p:spPr>
      </p:sp>
      <p:sp>
        <p:nvSpPr>
          <p:cNvPr id="10" name="Text 8"/>
          <p:cNvSpPr/>
          <p:nvPr/>
        </p:nvSpPr>
        <p:spPr>
          <a:xfrm>
            <a:off x="868680" y="1572768"/>
            <a:ext cx="1143000" cy="12801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Fizică</a:t>
            </a:r>
            <a:endParaRPr lang="en-US" sz="950" dirty="0"/>
          </a:p>
        </p:txBody>
      </p:sp>
      <p:sp>
        <p:nvSpPr>
          <p:cNvPr id="11" name="Text 9"/>
          <p:cNvSpPr/>
          <p:nvPr/>
        </p:nvSpPr>
        <p:spPr>
          <a:xfrm>
            <a:off x="2286000" y="1490472"/>
            <a:ext cx="3429000" cy="274320"/>
          </a:xfrm>
          <a:prstGeom prst="rect">
            <a:avLst/>
          </a:prstGeom>
          <a:noFill/>
          <a:ln/>
        </p:spPr>
        <p:txBody>
          <a:bodyPr wrap="square" lIns="0" tIns="0" rIns="0" bIns="0" rtlCol="0" anchor="ctr">
            <a:normAutofit/>
          </a:bodyPr>
          <a:lstStyle/>
          <a:p>
            <a:pPr indent="0" marL="0">
              <a:buNone/>
            </a:pPr>
            <a:r>
              <a:rPr lang="en-US" sz="1250" dirty="0">
                <a:solidFill>
                  <a:srgbClr val="1F2937"/>
                </a:solidFill>
              </a:rPr>
              <a:t>măsurare și sisteme de referință</a:t>
            </a:r>
            <a:endParaRPr lang="en-US" sz="1250" dirty="0"/>
          </a:p>
        </p:txBody>
      </p:sp>
      <p:sp>
        <p:nvSpPr>
          <p:cNvPr id="12" name="Shape 10"/>
          <p:cNvSpPr/>
          <p:nvPr/>
        </p:nvSpPr>
        <p:spPr>
          <a:xfrm>
            <a:off x="6355080" y="1325880"/>
            <a:ext cx="5166360" cy="786384"/>
          </a:xfrm>
          <a:prstGeom prst="roundRect">
            <a:avLst/>
          </a:prstGeom>
          <a:solidFill>
            <a:srgbClr val="FFFFFF"/>
          </a:solidFill>
          <a:ln w="12700">
            <a:solidFill>
              <a:srgbClr val="D1DAE6"/>
            </a:solidFill>
            <a:prstDash val="solid"/>
          </a:ln>
        </p:spPr>
      </p:sp>
      <p:sp>
        <p:nvSpPr>
          <p:cNvPr id="13" name="Shape 11"/>
          <p:cNvSpPr/>
          <p:nvPr/>
        </p:nvSpPr>
        <p:spPr>
          <a:xfrm>
            <a:off x="6355080" y="1325880"/>
            <a:ext cx="1325880" cy="786384"/>
          </a:xfrm>
          <a:prstGeom prst="rect">
            <a:avLst/>
          </a:prstGeom>
          <a:solidFill>
            <a:srgbClr val="24A19C"/>
          </a:solidFill>
          <a:ln w="12700">
            <a:solidFill>
              <a:srgbClr val="24A19C"/>
            </a:solidFill>
            <a:prstDash val="solid"/>
          </a:ln>
        </p:spPr>
      </p:sp>
      <p:sp>
        <p:nvSpPr>
          <p:cNvPr id="14" name="Text 12"/>
          <p:cNvSpPr/>
          <p:nvPr/>
        </p:nvSpPr>
        <p:spPr>
          <a:xfrm>
            <a:off x="6446520" y="1572768"/>
            <a:ext cx="1143000" cy="12801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Chimie</a:t>
            </a:r>
            <a:endParaRPr lang="en-US" sz="950" dirty="0"/>
          </a:p>
        </p:txBody>
      </p:sp>
      <p:sp>
        <p:nvSpPr>
          <p:cNvPr id="15" name="Text 13"/>
          <p:cNvSpPr/>
          <p:nvPr/>
        </p:nvSpPr>
        <p:spPr>
          <a:xfrm>
            <a:off x="7863840" y="1490472"/>
            <a:ext cx="3429000" cy="274320"/>
          </a:xfrm>
          <a:prstGeom prst="rect">
            <a:avLst/>
          </a:prstGeom>
          <a:noFill/>
          <a:ln/>
        </p:spPr>
        <p:txBody>
          <a:bodyPr wrap="square" lIns="0" tIns="0" rIns="0" bIns="0" rtlCol="0" anchor="ctr">
            <a:normAutofit/>
          </a:bodyPr>
          <a:lstStyle/>
          <a:p>
            <a:pPr indent="0" marL="0">
              <a:buNone/>
            </a:pPr>
            <a:r>
              <a:rPr lang="en-US" sz="1250" dirty="0">
                <a:solidFill>
                  <a:srgbClr val="1F2937"/>
                </a:solidFill>
              </a:rPr>
              <a:t>ritmul transformărilor materiale</a:t>
            </a:r>
            <a:endParaRPr lang="en-US" sz="1250" dirty="0"/>
          </a:p>
        </p:txBody>
      </p:sp>
      <p:sp>
        <p:nvSpPr>
          <p:cNvPr id="16" name="Shape 14"/>
          <p:cNvSpPr/>
          <p:nvPr/>
        </p:nvSpPr>
        <p:spPr>
          <a:xfrm>
            <a:off x="777240" y="2359152"/>
            <a:ext cx="5166360" cy="786384"/>
          </a:xfrm>
          <a:prstGeom prst="roundRect">
            <a:avLst/>
          </a:prstGeom>
          <a:solidFill>
            <a:srgbClr val="FFFFFF"/>
          </a:solidFill>
          <a:ln w="12700">
            <a:solidFill>
              <a:srgbClr val="D1DAE6"/>
            </a:solidFill>
            <a:prstDash val="solid"/>
          </a:ln>
        </p:spPr>
      </p:sp>
      <p:sp>
        <p:nvSpPr>
          <p:cNvPr id="17" name="Shape 15"/>
          <p:cNvSpPr/>
          <p:nvPr/>
        </p:nvSpPr>
        <p:spPr>
          <a:xfrm>
            <a:off x="777240" y="2359152"/>
            <a:ext cx="1325880" cy="786384"/>
          </a:xfrm>
          <a:prstGeom prst="rect">
            <a:avLst/>
          </a:prstGeom>
          <a:solidFill>
            <a:srgbClr val="9B51E0"/>
          </a:solidFill>
          <a:ln w="12700">
            <a:solidFill>
              <a:srgbClr val="9B51E0"/>
            </a:solidFill>
            <a:prstDash val="solid"/>
          </a:ln>
        </p:spPr>
      </p:sp>
      <p:sp>
        <p:nvSpPr>
          <p:cNvPr id="18" name="Text 16"/>
          <p:cNvSpPr/>
          <p:nvPr/>
        </p:nvSpPr>
        <p:spPr>
          <a:xfrm>
            <a:off x="868680" y="2606040"/>
            <a:ext cx="1143000" cy="12801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Biologie</a:t>
            </a:r>
            <a:endParaRPr lang="en-US" sz="950" dirty="0"/>
          </a:p>
        </p:txBody>
      </p:sp>
      <p:sp>
        <p:nvSpPr>
          <p:cNvPr id="19" name="Text 17"/>
          <p:cNvSpPr/>
          <p:nvPr/>
        </p:nvSpPr>
        <p:spPr>
          <a:xfrm>
            <a:off x="2286000" y="2523744"/>
            <a:ext cx="3429000" cy="274320"/>
          </a:xfrm>
          <a:prstGeom prst="rect">
            <a:avLst/>
          </a:prstGeom>
          <a:noFill/>
          <a:ln/>
        </p:spPr>
        <p:txBody>
          <a:bodyPr wrap="square" lIns="0" tIns="0" rIns="0" bIns="0" rtlCol="0" anchor="ctr">
            <a:normAutofit/>
          </a:bodyPr>
          <a:lstStyle/>
          <a:p>
            <a:pPr indent="0" marL="0">
              <a:buNone/>
            </a:pPr>
            <a:r>
              <a:rPr lang="en-US" sz="1250" dirty="0">
                <a:solidFill>
                  <a:srgbClr val="1F2937"/>
                </a:solidFill>
              </a:rPr>
              <a:t>timp celular și percepție spațială</a:t>
            </a:r>
            <a:endParaRPr lang="en-US" sz="1250" dirty="0"/>
          </a:p>
        </p:txBody>
      </p:sp>
      <p:sp>
        <p:nvSpPr>
          <p:cNvPr id="20" name="Shape 18"/>
          <p:cNvSpPr/>
          <p:nvPr/>
        </p:nvSpPr>
        <p:spPr>
          <a:xfrm>
            <a:off x="6355080" y="2359152"/>
            <a:ext cx="5166360" cy="786384"/>
          </a:xfrm>
          <a:prstGeom prst="roundRect">
            <a:avLst/>
          </a:prstGeom>
          <a:solidFill>
            <a:srgbClr val="FFFFFF"/>
          </a:solidFill>
          <a:ln w="12700">
            <a:solidFill>
              <a:srgbClr val="D1DAE6"/>
            </a:solidFill>
            <a:prstDash val="solid"/>
          </a:ln>
        </p:spPr>
      </p:sp>
      <p:sp>
        <p:nvSpPr>
          <p:cNvPr id="21" name="Shape 19"/>
          <p:cNvSpPr/>
          <p:nvPr/>
        </p:nvSpPr>
        <p:spPr>
          <a:xfrm>
            <a:off x="6355080" y="2359152"/>
            <a:ext cx="1325880" cy="786384"/>
          </a:xfrm>
          <a:prstGeom prst="rect">
            <a:avLst/>
          </a:prstGeom>
          <a:solidFill>
            <a:srgbClr val="27AE60"/>
          </a:solidFill>
          <a:ln w="12700">
            <a:solidFill>
              <a:srgbClr val="27AE60"/>
            </a:solidFill>
            <a:prstDash val="solid"/>
          </a:ln>
        </p:spPr>
      </p:sp>
      <p:sp>
        <p:nvSpPr>
          <p:cNvPr id="22" name="Text 20"/>
          <p:cNvSpPr/>
          <p:nvPr/>
        </p:nvSpPr>
        <p:spPr>
          <a:xfrm>
            <a:off x="6446520" y="2606040"/>
            <a:ext cx="1143000" cy="12801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Istorie</a:t>
            </a:r>
            <a:endParaRPr lang="en-US" sz="950" dirty="0"/>
          </a:p>
        </p:txBody>
      </p:sp>
      <p:sp>
        <p:nvSpPr>
          <p:cNvPr id="23" name="Text 21"/>
          <p:cNvSpPr/>
          <p:nvPr/>
        </p:nvSpPr>
        <p:spPr>
          <a:xfrm>
            <a:off x="7863840" y="2523744"/>
            <a:ext cx="3429000" cy="274320"/>
          </a:xfrm>
          <a:prstGeom prst="rect">
            <a:avLst/>
          </a:prstGeom>
          <a:noFill/>
          <a:ln/>
        </p:spPr>
        <p:txBody>
          <a:bodyPr wrap="square" lIns="0" tIns="0" rIns="0" bIns="0" rtlCol="0" anchor="ctr">
            <a:normAutofit/>
          </a:bodyPr>
          <a:lstStyle/>
          <a:p>
            <a:pPr indent="0" marL="0">
              <a:buNone/>
            </a:pPr>
            <a:r>
              <a:rPr lang="en-US" sz="1250" dirty="0">
                <a:solidFill>
                  <a:srgbClr val="1F2937"/>
                </a:solidFill>
              </a:rPr>
              <a:t>durată, memorie și spațiu istoric</a:t>
            </a:r>
            <a:endParaRPr lang="en-US" sz="1250" dirty="0"/>
          </a:p>
        </p:txBody>
      </p:sp>
      <p:sp>
        <p:nvSpPr>
          <p:cNvPr id="24" name="Shape 22"/>
          <p:cNvSpPr/>
          <p:nvPr/>
        </p:nvSpPr>
        <p:spPr>
          <a:xfrm>
            <a:off x="777240" y="3392424"/>
            <a:ext cx="5166360" cy="786384"/>
          </a:xfrm>
          <a:prstGeom prst="roundRect">
            <a:avLst/>
          </a:prstGeom>
          <a:solidFill>
            <a:srgbClr val="FFFFFF"/>
          </a:solidFill>
          <a:ln w="12700">
            <a:solidFill>
              <a:srgbClr val="D1DAE6"/>
            </a:solidFill>
            <a:prstDash val="solid"/>
          </a:ln>
        </p:spPr>
      </p:sp>
      <p:sp>
        <p:nvSpPr>
          <p:cNvPr id="25" name="Shape 23"/>
          <p:cNvSpPr/>
          <p:nvPr/>
        </p:nvSpPr>
        <p:spPr>
          <a:xfrm>
            <a:off x="777240" y="3392424"/>
            <a:ext cx="1325880" cy="786384"/>
          </a:xfrm>
          <a:prstGeom prst="rect">
            <a:avLst/>
          </a:prstGeom>
          <a:solidFill>
            <a:srgbClr val="2F80ED"/>
          </a:solidFill>
          <a:ln w="12700">
            <a:solidFill>
              <a:srgbClr val="2F80ED"/>
            </a:solidFill>
            <a:prstDash val="solid"/>
          </a:ln>
        </p:spPr>
      </p:sp>
      <p:sp>
        <p:nvSpPr>
          <p:cNvPr id="26" name="Text 24"/>
          <p:cNvSpPr/>
          <p:nvPr/>
        </p:nvSpPr>
        <p:spPr>
          <a:xfrm>
            <a:off x="868680" y="3639312"/>
            <a:ext cx="1143000" cy="12801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Geografie</a:t>
            </a:r>
            <a:endParaRPr lang="en-US" sz="950" dirty="0"/>
          </a:p>
        </p:txBody>
      </p:sp>
      <p:sp>
        <p:nvSpPr>
          <p:cNvPr id="27" name="Text 25"/>
          <p:cNvSpPr/>
          <p:nvPr/>
        </p:nvSpPr>
        <p:spPr>
          <a:xfrm>
            <a:off x="2286000" y="3557016"/>
            <a:ext cx="3429000" cy="274320"/>
          </a:xfrm>
          <a:prstGeom prst="rect">
            <a:avLst/>
          </a:prstGeom>
          <a:noFill/>
          <a:ln/>
        </p:spPr>
        <p:txBody>
          <a:bodyPr wrap="square" lIns="0" tIns="0" rIns="0" bIns="0" rtlCol="0" anchor="ctr">
            <a:normAutofit/>
          </a:bodyPr>
          <a:lstStyle/>
          <a:p>
            <a:pPr indent="0" marL="0">
              <a:buNone/>
            </a:pPr>
            <a:r>
              <a:rPr lang="en-US" sz="1250" dirty="0">
                <a:solidFill>
                  <a:srgbClr val="1F2937"/>
                </a:solidFill>
              </a:rPr>
              <a:t>scări, teritorii, fluxuri</a:t>
            </a:r>
            <a:endParaRPr lang="en-US" sz="1250" dirty="0"/>
          </a:p>
        </p:txBody>
      </p:sp>
      <p:sp>
        <p:nvSpPr>
          <p:cNvPr id="28" name="Shape 26"/>
          <p:cNvSpPr/>
          <p:nvPr/>
        </p:nvSpPr>
        <p:spPr>
          <a:xfrm>
            <a:off x="6355080" y="3392424"/>
            <a:ext cx="5166360" cy="786384"/>
          </a:xfrm>
          <a:prstGeom prst="roundRect">
            <a:avLst/>
          </a:prstGeom>
          <a:solidFill>
            <a:srgbClr val="FFFFFF"/>
          </a:solidFill>
          <a:ln w="12700">
            <a:solidFill>
              <a:srgbClr val="D1DAE6"/>
            </a:solidFill>
            <a:prstDash val="solid"/>
          </a:ln>
        </p:spPr>
      </p:sp>
      <p:sp>
        <p:nvSpPr>
          <p:cNvPr id="29" name="Shape 27"/>
          <p:cNvSpPr/>
          <p:nvPr/>
        </p:nvSpPr>
        <p:spPr>
          <a:xfrm>
            <a:off x="6355080" y="3392424"/>
            <a:ext cx="1325880" cy="786384"/>
          </a:xfrm>
          <a:prstGeom prst="rect">
            <a:avLst/>
          </a:prstGeom>
          <a:solidFill>
            <a:srgbClr val="24A19C"/>
          </a:solidFill>
          <a:ln w="12700">
            <a:solidFill>
              <a:srgbClr val="24A19C"/>
            </a:solidFill>
            <a:prstDash val="solid"/>
          </a:ln>
        </p:spPr>
      </p:sp>
      <p:sp>
        <p:nvSpPr>
          <p:cNvPr id="30" name="Text 28"/>
          <p:cNvSpPr/>
          <p:nvPr/>
        </p:nvSpPr>
        <p:spPr>
          <a:xfrm>
            <a:off x="6446520" y="3639312"/>
            <a:ext cx="1143000" cy="12801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Filosofie</a:t>
            </a:r>
            <a:endParaRPr lang="en-US" sz="950" dirty="0"/>
          </a:p>
        </p:txBody>
      </p:sp>
      <p:sp>
        <p:nvSpPr>
          <p:cNvPr id="31" name="Text 29"/>
          <p:cNvSpPr/>
          <p:nvPr/>
        </p:nvSpPr>
        <p:spPr>
          <a:xfrm>
            <a:off x="7863840" y="3557016"/>
            <a:ext cx="3429000" cy="274320"/>
          </a:xfrm>
          <a:prstGeom prst="rect">
            <a:avLst/>
          </a:prstGeom>
          <a:noFill/>
          <a:ln/>
        </p:spPr>
        <p:txBody>
          <a:bodyPr wrap="square" lIns="0" tIns="0" rIns="0" bIns="0" rtlCol="0" anchor="ctr">
            <a:normAutofit/>
          </a:bodyPr>
          <a:lstStyle/>
          <a:p>
            <a:pPr indent="0" marL="0">
              <a:buNone/>
            </a:pPr>
            <a:r>
              <a:rPr lang="en-US" sz="1250" dirty="0">
                <a:solidFill>
                  <a:srgbClr val="1F2937"/>
                </a:solidFill>
              </a:rPr>
              <a:t>clarificarea conceptelor</a:t>
            </a:r>
            <a:endParaRPr lang="en-US" sz="1250" dirty="0"/>
          </a:p>
        </p:txBody>
      </p:sp>
      <p:sp>
        <p:nvSpPr>
          <p:cNvPr id="32" name="Shape 30"/>
          <p:cNvSpPr/>
          <p:nvPr/>
        </p:nvSpPr>
        <p:spPr>
          <a:xfrm>
            <a:off x="777240" y="4425696"/>
            <a:ext cx="5166360" cy="786384"/>
          </a:xfrm>
          <a:prstGeom prst="roundRect">
            <a:avLst/>
          </a:prstGeom>
          <a:solidFill>
            <a:srgbClr val="FFFFFF"/>
          </a:solidFill>
          <a:ln w="12700">
            <a:solidFill>
              <a:srgbClr val="D1DAE6"/>
            </a:solidFill>
            <a:prstDash val="solid"/>
          </a:ln>
        </p:spPr>
      </p:sp>
      <p:sp>
        <p:nvSpPr>
          <p:cNvPr id="33" name="Shape 31"/>
          <p:cNvSpPr/>
          <p:nvPr/>
        </p:nvSpPr>
        <p:spPr>
          <a:xfrm>
            <a:off x="777240" y="4425696"/>
            <a:ext cx="1325880" cy="786384"/>
          </a:xfrm>
          <a:prstGeom prst="rect">
            <a:avLst/>
          </a:prstGeom>
          <a:solidFill>
            <a:srgbClr val="9B51E0"/>
          </a:solidFill>
          <a:ln w="12700">
            <a:solidFill>
              <a:srgbClr val="9B51E0"/>
            </a:solidFill>
            <a:prstDash val="solid"/>
          </a:ln>
        </p:spPr>
      </p:sp>
      <p:sp>
        <p:nvSpPr>
          <p:cNvPr id="34" name="Text 32"/>
          <p:cNvSpPr/>
          <p:nvPr/>
        </p:nvSpPr>
        <p:spPr>
          <a:xfrm>
            <a:off x="868680" y="4672584"/>
            <a:ext cx="1143000" cy="12801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Religie</a:t>
            </a:r>
            <a:endParaRPr lang="en-US" sz="950" dirty="0"/>
          </a:p>
        </p:txBody>
      </p:sp>
      <p:sp>
        <p:nvSpPr>
          <p:cNvPr id="35" name="Text 33"/>
          <p:cNvSpPr/>
          <p:nvPr/>
        </p:nvSpPr>
        <p:spPr>
          <a:xfrm>
            <a:off x="2286000" y="4590288"/>
            <a:ext cx="3429000" cy="274320"/>
          </a:xfrm>
          <a:prstGeom prst="rect">
            <a:avLst/>
          </a:prstGeom>
          <a:noFill/>
          <a:ln/>
        </p:spPr>
        <p:txBody>
          <a:bodyPr wrap="square" lIns="0" tIns="0" rIns="0" bIns="0" rtlCol="0" anchor="ctr">
            <a:normAutofit/>
          </a:bodyPr>
          <a:lstStyle/>
          <a:p>
            <a:pPr indent="0" marL="0">
              <a:buNone/>
            </a:pPr>
            <a:r>
              <a:rPr lang="en-US" sz="1250" dirty="0">
                <a:solidFill>
                  <a:srgbClr val="1F2937"/>
                </a:solidFill>
              </a:rPr>
              <a:t>sens, comuniune, timp liturgic</a:t>
            </a:r>
            <a:endParaRPr lang="en-US" sz="1250" dirty="0"/>
          </a:p>
        </p:txBody>
      </p:sp>
      <p:sp>
        <p:nvSpPr>
          <p:cNvPr id="36" name="Shape 34"/>
          <p:cNvSpPr/>
          <p:nvPr/>
        </p:nvSpPr>
        <p:spPr>
          <a:xfrm>
            <a:off x="6355080" y="4425696"/>
            <a:ext cx="5166360" cy="786384"/>
          </a:xfrm>
          <a:prstGeom prst="roundRect">
            <a:avLst/>
          </a:prstGeom>
          <a:solidFill>
            <a:srgbClr val="FFFFFF"/>
          </a:solidFill>
          <a:ln w="12700">
            <a:solidFill>
              <a:srgbClr val="D1DAE6"/>
            </a:solidFill>
            <a:prstDash val="solid"/>
          </a:ln>
        </p:spPr>
      </p:sp>
      <p:sp>
        <p:nvSpPr>
          <p:cNvPr id="37" name="Shape 35"/>
          <p:cNvSpPr/>
          <p:nvPr/>
        </p:nvSpPr>
        <p:spPr>
          <a:xfrm>
            <a:off x="6355080" y="4425696"/>
            <a:ext cx="1325880" cy="786384"/>
          </a:xfrm>
          <a:prstGeom prst="rect">
            <a:avLst/>
          </a:prstGeom>
          <a:solidFill>
            <a:srgbClr val="27AE60"/>
          </a:solidFill>
          <a:ln w="12700">
            <a:solidFill>
              <a:srgbClr val="27AE60"/>
            </a:solidFill>
            <a:prstDash val="solid"/>
          </a:ln>
        </p:spPr>
      </p:sp>
      <p:sp>
        <p:nvSpPr>
          <p:cNvPr id="38" name="Text 36"/>
          <p:cNvSpPr/>
          <p:nvPr/>
        </p:nvSpPr>
        <p:spPr>
          <a:xfrm>
            <a:off x="6446520" y="4672584"/>
            <a:ext cx="1143000" cy="128016"/>
          </a:xfrm>
          <a:prstGeom prst="rect">
            <a:avLst/>
          </a:prstGeom>
          <a:noFill/>
          <a:ln/>
        </p:spPr>
        <p:txBody>
          <a:bodyPr wrap="square" lIns="0" tIns="0" rIns="0" bIns="0" rtlCol="0" anchor="ctr">
            <a:normAutofit/>
          </a:bodyPr>
          <a:lstStyle/>
          <a:p>
            <a:pPr algn="ctr" indent="0" marL="0">
              <a:buNone/>
            </a:pPr>
            <a:r>
              <a:rPr lang="en-US" sz="950" b="1" dirty="0">
                <a:solidFill>
                  <a:srgbClr val="FFFFFF"/>
                </a:solidFill>
              </a:rPr>
              <a:t>Informatică</a:t>
            </a:r>
            <a:endParaRPr lang="en-US" sz="950" dirty="0"/>
          </a:p>
        </p:txBody>
      </p:sp>
      <p:sp>
        <p:nvSpPr>
          <p:cNvPr id="39" name="Text 37"/>
          <p:cNvSpPr/>
          <p:nvPr/>
        </p:nvSpPr>
        <p:spPr>
          <a:xfrm>
            <a:off x="7863840" y="4590288"/>
            <a:ext cx="3429000" cy="274320"/>
          </a:xfrm>
          <a:prstGeom prst="rect">
            <a:avLst/>
          </a:prstGeom>
          <a:noFill/>
          <a:ln/>
        </p:spPr>
        <p:txBody>
          <a:bodyPr wrap="square" lIns="0" tIns="0" rIns="0" bIns="0" rtlCol="0" anchor="ctr">
            <a:normAutofit/>
          </a:bodyPr>
          <a:lstStyle/>
          <a:p>
            <a:pPr indent="0" marL="0">
              <a:buNone/>
            </a:pPr>
            <a:r>
              <a:rPr lang="en-US" sz="1250" dirty="0">
                <a:solidFill>
                  <a:srgbClr val="1F2937"/>
                </a:solidFill>
              </a:rPr>
              <a:t>date, modele, predicții</a:t>
            </a:r>
            <a:endParaRPr lang="en-US" sz="1250" dirty="0"/>
          </a:p>
        </p:txBody>
      </p:sp>
      <p:sp>
        <p:nvSpPr>
          <p:cNvPr id="40" name="Text 38"/>
          <p:cNvSpPr/>
          <p:nvPr/>
        </p:nvSpPr>
        <p:spPr>
          <a:xfrm>
            <a:off x="868680" y="5806440"/>
            <a:ext cx="10424160" cy="292608"/>
          </a:xfrm>
          <a:prstGeom prst="rect">
            <a:avLst/>
          </a:prstGeom>
          <a:noFill/>
          <a:ln/>
        </p:spPr>
        <p:txBody>
          <a:bodyPr wrap="square" lIns="0" tIns="0" rIns="0" bIns="0" rtlCol="0" anchor="ctr"/>
          <a:lstStyle/>
          <a:p>
            <a:pPr algn="ctr" indent="0" marL="0">
              <a:buNone/>
            </a:pPr>
            <a:r>
              <a:rPr lang="en-US" sz="1650" b="1" dirty="0">
                <a:solidFill>
                  <a:srgbClr val="0B1F33"/>
                </a:solidFill>
              </a:rPr>
              <a:t>Unitatea proiectului: orice fenomen are loc undeva, durează un timp și capătă sens într-un context.</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Impact</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Relevanță în lumea contemporană</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13</a:t>
            </a:r>
            <a:endParaRPr lang="en-US" sz="780" dirty="0"/>
          </a:p>
        </p:txBody>
      </p:sp>
      <p:sp>
        <p:nvSpPr>
          <p:cNvPr id="8" name="Shape 6"/>
          <p:cNvSpPr/>
          <p:nvPr/>
        </p:nvSpPr>
        <p:spPr>
          <a:xfrm>
            <a:off x="777240" y="1325880"/>
            <a:ext cx="3337560" cy="2880360"/>
          </a:xfrm>
          <a:prstGeom prst="roundRect">
            <a:avLst>
              <a:gd name="adj" fmla="val 2540"/>
            </a:avLst>
          </a:prstGeom>
          <a:solidFill>
            <a:srgbClr val="FFFFFF"/>
          </a:solidFill>
          <a:ln w="13970">
            <a:solidFill>
              <a:srgbClr val="2F80ED"/>
            </a:solidFill>
            <a:prstDash val="solid"/>
          </a:ln>
        </p:spPr>
      </p:sp>
      <p:sp>
        <p:nvSpPr>
          <p:cNvPr id="9" name="Shape 7"/>
          <p:cNvSpPr/>
          <p:nvPr/>
        </p:nvSpPr>
        <p:spPr>
          <a:xfrm>
            <a:off x="777240" y="1325880"/>
            <a:ext cx="3337560" cy="347472"/>
          </a:xfrm>
          <a:prstGeom prst="rect">
            <a:avLst/>
          </a:prstGeom>
          <a:solidFill>
            <a:srgbClr val="2F80ED"/>
          </a:solidFill>
          <a:ln w="12700">
            <a:solidFill>
              <a:srgbClr val="2F80ED"/>
            </a:solidFill>
            <a:prstDash val="solid"/>
          </a:ln>
        </p:spPr>
      </p:sp>
      <p:sp>
        <p:nvSpPr>
          <p:cNvPr id="10" name="Text 8"/>
          <p:cNvSpPr/>
          <p:nvPr/>
        </p:nvSpPr>
        <p:spPr>
          <a:xfrm>
            <a:off x="914400" y="1417320"/>
            <a:ext cx="306324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Știință și tehnologie</a:t>
            </a:r>
            <a:endParaRPr lang="en-US" sz="930" dirty="0"/>
          </a:p>
        </p:txBody>
      </p:sp>
      <p:sp>
        <p:nvSpPr>
          <p:cNvPr id="11" name="Text 9"/>
          <p:cNvSpPr/>
          <p:nvPr/>
        </p:nvSpPr>
        <p:spPr>
          <a:xfrm>
            <a:off x="941832" y="1801368"/>
            <a:ext cx="3008376" cy="2313432"/>
          </a:xfrm>
          <a:prstGeom prst="rect">
            <a:avLst/>
          </a:prstGeom>
          <a:noFill/>
          <a:ln/>
        </p:spPr>
        <p:txBody>
          <a:bodyPr wrap="square" lIns="254" tIns="254" rIns="254" bIns="254" rtlCol="0" anchor="t">
            <a:normAutofit/>
          </a:bodyPr>
          <a:lstStyle/>
          <a:p>
            <a:pPr indent="0" marL="0">
              <a:buNone/>
            </a:pPr>
            <a:r>
              <a:rPr lang="en-US" sz="1400" dirty="0">
                <a:solidFill>
                  <a:srgbClr val="1F2937"/>
                </a:solidFill>
              </a:rPr>
              <a:t>relativitate, chimie aplicată, modele climatice, predicții digitale</a:t>
            </a:r>
            <a:endParaRPr lang="en-US" sz="1400" dirty="0"/>
          </a:p>
        </p:txBody>
      </p:sp>
      <p:sp>
        <p:nvSpPr>
          <p:cNvPr id="12" name="Shape 10"/>
          <p:cNvSpPr/>
          <p:nvPr/>
        </p:nvSpPr>
        <p:spPr>
          <a:xfrm>
            <a:off x="4434840" y="1325880"/>
            <a:ext cx="3337560" cy="2880360"/>
          </a:xfrm>
          <a:prstGeom prst="roundRect">
            <a:avLst>
              <a:gd name="adj" fmla="val 2540"/>
            </a:avLst>
          </a:prstGeom>
          <a:solidFill>
            <a:srgbClr val="FFFFFF"/>
          </a:solidFill>
          <a:ln w="13970">
            <a:solidFill>
              <a:srgbClr val="EB5757"/>
            </a:solidFill>
            <a:prstDash val="solid"/>
          </a:ln>
        </p:spPr>
      </p:sp>
      <p:sp>
        <p:nvSpPr>
          <p:cNvPr id="13" name="Shape 11"/>
          <p:cNvSpPr/>
          <p:nvPr/>
        </p:nvSpPr>
        <p:spPr>
          <a:xfrm>
            <a:off x="4434840" y="1325880"/>
            <a:ext cx="3337560" cy="347472"/>
          </a:xfrm>
          <a:prstGeom prst="rect">
            <a:avLst/>
          </a:prstGeom>
          <a:solidFill>
            <a:srgbClr val="EB5757"/>
          </a:solidFill>
          <a:ln w="12700">
            <a:solidFill>
              <a:srgbClr val="EB5757"/>
            </a:solidFill>
            <a:prstDash val="solid"/>
          </a:ln>
        </p:spPr>
      </p:sp>
      <p:sp>
        <p:nvSpPr>
          <p:cNvPr id="14" name="Text 12"/>
          <p:cNvSpPr/>
          <p:nvPr/>
        </p:nvSpPr>
        <p:spPr>
          <a:xfrm>
            <a:off x="4572000" y="1417320"/>
            <a:ext cx="306324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Sănătate și viață</a:t>
            </a:r>
            <a:endParaRPr lang="en-US" sz="930" dirty="0"/>
          </a:p>
        </p:txBody>
      </p:sp>
      <p:sp>
        <p:nvSpPr>
          <p:cNvPr id="15" name="Text 13"/>
          <p:cNvSpPr/>
          <p:nvPr/>
        </p:nvSpPr>
        <p:spPr>
          <a:xfrm>
            <a:off x="4599432" y="1801368"/>
            <a:ext cx="3008376" cy="2313432"/>
          </a:xfrm>
          <a:prstGeom prst="rect">
            <a:avLst/>
          </a:prstGeom>
          <a:noFill/>
          <a:ln/>
        </p:spPr>
        <p:txBody>
          <a:bodyPr wrap="square" lIns="254" tIns="254" rIns="254" bIns="254" rtlCol="0" anchor="t">
            <a:normAutofit/>
          </a:bodyPr>
          <a:lstStyle/>
          <a:p>
            <a:pPr indent="0" marL="0">
              <a:buNone/>
            </a:pPr>
            <a:r>
              <a:rPr lang="en-US" sz="1400" dirty="0">
                <a:solidFill>
                  <a:srgbClr val="1F2937"/>
                </a:solidFill>
              </a:rPr>
              <a:t>îmbătrânire, percepție, prevenție, ritm biologic</a:t>
            </a:r>
            <a:endParaRPr lang="en-US" sz="1400" dirty="0"/>
          </a:p>
        </p:txBody>
      </p:sp>
      <p:sp>
        <p:nvSpPr>
          <p:cNvPr id="16" name="Shape 14"/>
          <p:cNvSpPr/>
          <p:nvPr/>
        </p:nvSpPr>
        <p:spPr>
          <a:xfrm>
            <a:off x="8092440" y="1325880"/>
            <a:ext cx="3337560" cy="2880360"/>
          </a:xfrm>
          <a:prstGeom prst="roundRect">
            <a:avLst>
              <a:gd name="adj" fmla="val 2540"/>
            </a:avLst>
          </a:prstGeom>
          <a:solidFill>
            <a:srgbClr val="FFFFFF"/>
          </a:solidFill>
          <a:ln w="13970">
            <a:solidFill>
              <a:srgbClr val="9B51E0"/>
            </a:solidFill>
            <a:prstDash val="solid"/>
          </a:ln>
        </p:spPr>
      </p:sp>
      <p:sp>
        <p:nvSpPr>
          <p:cNvPr id="17" name="Shape 15"/>
          <p:cNvSpPr/>
          <p:nvPr/>
        </p:nvSpPr>
        <p:spPr>
          <a:xfrm>
            <a:off x="8092440" y="1325880"/>
            <a:ext cx="3337560" cy="347472"/>
          </a:xfrm>
          <a:prstGeom prst="rect">
            <a:avLst/>
          </a:prstGeom>
          <a:solidFill>
            <a:srgbClr val="9B51E0"/>
          </a:solidFill>
          <a:ln w="12700">
            <a:solidFill>
              <a:srgbClr val="9B51E0"/>
            </a:solidFill>
            <a:prstDash val="solid"/>
          </a:ln>
        </p:spPr>
      </p:sp>
      <p:sp>
        <p:nvSpPr>
          <p:cNvPr id="18" name="Text 16"/>
          <p:cNvSpPr/>
          <p:nvPr/>
        </p:nvSpPr>
        <p:spPr>
          <a:xfrm>
            <a:off x="8229600" y="1417320"/>
            <a:ext cx="3063240" cy="146304"/>
          </a:xfrm>
          <a:prstGeom prst="rect">
            <a:avLst/>
          </a:prstGeom>
          <a:noFill/>
          <a:ln/>
        </p:spPr>
        <p:txBody>
          <a:bodyPr wrap="square" lIns="0" tIns="0" rIns="0" bIns="0" rtlCol="0" anchor="ctr">
            <a:normAutofit/>
          </a:bodyPr>
          <a:lstStyle/>
          <a:p>
            <a:pPr indent="0" marL="0">
              <a:buNone/>
            </a:pPr>
            <a:r>
              <a:rPr lang="en-US" sz="930" b="1" dirty="0">
                <a:solidFill>
                  <a:srgbClr val="FFFFFF"/>
                </a:solidFill>
              </a:rPr>
              <a:t>Societate și valori</a:t>
            </a:r>
            <a:endParaRPr lang="en-US" sz="930" dirty="0"/>
          </a:p>
        </p:txBody>
      </p:sp>
      <p:sp>
        <p:nvSpPr>
          <p:cNvPr id="19" name="Text 17"/>
          <p:cNvSpPr/>
          <p:nvPr/>
        </p:nvSpPr>
        <p:spPr>
          <a:xfrm>
            <a:off x="8257032" y="1801368"/>
            <a:ext cx="3008376" cy="2313432"/>
          </a:xfrm>
          <a:prstGeom prst="rect">
            <a:avLst/>
          </a:prstGeom>
          <a:noFill/>
          <a:ln/>
        </p:spPr>
        <p:txBody>
          <a:bodyPr wrap="square" lIns="254" tIns="254" rIns="254" bIns="254" rtlCol="0" anchor="t">
            <a:normAutofit/>
          </a:bodyPr>
          <a:lstStyle/>
          <a:p>
            <a:pPr indent="0" marL="0">
              <a:buNone/>
            </a:pPr>
            <a:r>
              <a:rPr lang="en-US" sz="1400" dirty="0">
                <a:solidFill>
                  <a:srgbClr val="1F2937"/>
                </a:solidFill>
              </a:rPr>
              <a:t>istorie, globalizare, memorie, comuniune, etică digitală</a:t>
            </a:r>
            <a:endParaRPr lang="en-US" sz="1400" dirty="0"/>
          </a:p>
        </p:txBody>
      </p:sp>
      <p:sp>
        <p:nvSpPr>
          <p:cNvPr id="20" name="Shape 18"/>
          <p:cNvSpPr/>
          <p:nvPr/>
        </p:nvSpPr>
        <p:spPr>
          <a:xfrm>
            <a:off x="960120" y="4709160"/>
            <a:ext cx="10287000" cy="868680"/>
          </a:xfrm>
          <a:prstGeom prst="roundRect">
            <a:avLst>
              <a:gd name="adj" fmla="val 8421"/>
            </a:avLst>
          </a:prstGeom>
          <a:solidFill>
            <a:srgbClr val="FFFFFF"/>
          </a:solidFill>
          <a:ln w="8890">
            <a:solidFill>
              <a:srgbClr val="D1DAE6"/>
            </a:solidFill>
            <a:prstDash val="solid"/>
          </a:ln>
        </p:spPr>
      </p:sp>
      <p:sp>
        <p:nvSpPr>
          <p:cNvPr id="21" name="Text 19"/>
          <p:cNvSpPr/>
          <p:nvPr/>
        </p:nvSpPr>
        <p:spPr>
          <a:xfrm>
            <a:off x="1161288" y="4892040"/>
            <a:ext cx="9939528" cy="548640"/>
          </a:xfrm>
          <a:prstGeom prst="rect">
            <a:avLst/>
          </a:prstGeom>
          <a:noFill/>
          <a:ln/>
        </p:spPr>
        <p:txBody>
          <a:bodyPr wrap="square" lIns="254" tIns="254" rIns="254" bIns="254" rtlCol="0" anchor="ctr">
            <a:normAutofit/>
          </a:bodyPr>
          <a:lstStyle/>
          <a:p>
            <a:pPr indent="0" marL="0">
              <a:buNone/>
            </a:pPr>
            <a:r>
              <a:rPr lang="en-US" sz="1600" dirty="0">
                <a:solidFill>
                  <a:srgbClr val="1F2937"/>
                </a:solidFill>
              </a:rPr>
              <a:t>• Înțelegerea spațiului și timpului dezvoltă gândire critică: măsurare, context, surse, limite și responsabilitate.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Final</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Concluzii</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14</a:t>
            </a:r>
            <a:endParaRPr lang="en-US" sz="780" dirty="0"/>
          </a:p>
        </p:txBody>
      </p:sp>
      <p:sp>
        <p:nvSpPr>
          <p:cNvPr id="8" name="Shape 6"/>
          <p:cNvSpPr/>
          <p:nvPr/>
        </p:nvSpPr>
        <p:spPr>
          <a:xfrm>
            <a:off x="777240" y="1417320"/>
            <a:ext cx="1051560" cy="1051560"/>
          </a:xfrm>
          <a:prstGeom prst="ellipse">
            <a:avLst/>
          </a:prstGeom>
          <a:solidFill>
            <a:srgbClr val="2F80ED"/>
          </a:solidFill>
          <a:ln w="12700">
            <a:solidFill>
              <a:srgbClr val="2F80ED"/>
            </a:solidFill>
            <a:prstDash val="solid"/>
          </a:ln>
        </p:spPr>
      </p:sp>
      <p:sp>
        <p:nvSpPr>
          <p:cNvPr id="9" name="Text 7"/>
          <p:cNvSpPr/>
          <p:nvPr/>
        </p:nvSpPr>
        <p:spPr>
          <a:xfrm>
            <a:off x="1106424" y="1737360"/>
            <a:ext cx="384048" cy="182880"/>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10" name="Text 8"/>
          <p:cNvSpPr/>
          <p:nvPr/>
        </p:nvSpPr>
        <p:spPr>
          <a:xfrm>
            <a:off x="2057400" y="1554480"/>
            <a:ext cx="8869680" cy="320040"/>
          </a:xfrm>
          <a:prstGeom prst="rect">
            <a:avLst/>
          </a:prstGeom>
          <a:noFill/>
          <a:ln/>
        </p:spPr>
        <p:txBody>
          <a:bodyPr wrap="square" lIns="0" tIns="0" rIns="0" bIns="0" rtlCol="0" anchor="ctr">
            <a:normAutofit/>
          </a:bodyPr>
          <a:lstStyle/>
          <a:p>
            <a:pPr indent="0" marL="0">
              <a:buNone/>
            </a:pPr>
            <a:r>
              <a:rPr lang="en-US" sz="1800" b="1" dirty="0">
                <a:solidFill>
                  <a:srgbClr val="1F2937"/>
                </a:solidFill>
              </a:rPr>
              <a:t>Spațiul și timpul sunt mărimi, procese și forme de interpretare.</a:t>
            </a:r>
            <a:endParaRPr lang="en-US" sz="1800" dirty="0"/>
          </a:p>
        </p:txBody>
      </p:sp>
      <p:sp>
        <p:nvSpPr>
          <p:cNvPr id="11" name="Shape 9"/>
          <p:cNvSpPr/>
          <p:nvPr/>
        </p:nvSpPr>
        <p:spPr>
          <a:xfrm>
            <a:off x="777240" y="2651760"/>
            <a:ext cx="1051560" cy="1051560"/>
          </a:xfrm>
          <a:prstGeom prst="ellipse">
            <a:avLst/>
          </a:prstGeom>
          <a:solidFill>
            <a:srgbClr val="24A19C"/>
          </a:solidFill>
          <a:ln w="12700">
            <a:solidFill>
              <a:srgbClr val="24A19C"/>
            </a:solidFill>
            <a:prstDash val="solid"/>
          </a:ln>
        </p:spPr>
      </p:sp>
      <p:sp>
        <p:nvSpPr>
          <p:cNvPr id="12" name="Text 10"/>
          <p:cNvSpPr/>
          <p:nvPr/>
        </p:nvSpPr>
        <p:spPr>
          <a:xfrm>
            <a:off x="1106424" y="2971800"/>
            <a:ext cx="384048" cy="182880"/>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3" name="Text 11"/>
          <p:cNvSpPr/>
          <p:nvPr/>
        </p:nvSpPr>
        <p:spPr>
          <a:xfrm>
            <a:off x="2057400" y="2788920"/>
            <a:ext cx="8869680" cy="320040"/>
          </a:xfrm>
          <a:prstGeom prst="rect">
            <a:avLst/>
          </a:prstGeom>
          <a:noFill/>
          <a:ln/>
        </p:spPr>
        <p:txBody>
          <a:bodyPr wrap="square" lIns="0" tIns="0" rIns="0" bIns="0" rtlCol="0" anchor="ctr">
            <a:normAutofit/>
          </a:bodyPr>
          <a:lstStyle/>
          <a:p>
            <a:pPr indent="0" marL="0">
              <a:buNone/>
            </a:pPr>
            <a:r>
              <a:rPr lang="en-US" sz="1800" b="1" dirty="0">
                <a:solidFill>
                  <a:srgbClr val="1F2937"/>
                </a:solidFill>
              </a:rPr>
              <a:t>Disciplinele devin complementare când sunt legate prin aceeași întrebare.</a:t>
            </a:r>
            <a:endParaRPr lang="en-US" sz="1800" dirty="0"/>
          </a:p>
        </p:txBody>
      </p:sp>
      <p:sp>
        <p:nvSpPr>
          <p:cNvPr id="14" name="Shape 12"/>
          <p:cNvSpPr/>
          <p:nvPr/>
        </p:nvSpPr>
        <p:spPr>
          <a:xfrm>
            <a:off x="777240" y="3886200"/>
            <a:ext cx="1051560" cy="1051560"/>
          </a:xfrm>
          <a:prstGeom prst="ellipse">
            <a:avLst/>
          </a:prstGeom>
          <a:solidFill>
            <a:srgbClr val="9B51E0"/>
          </a:solidFill>
          <a:ln w="12700">
            <a:solidFill>
              <a:srgbClr val="9B51E0"/>
            </a:solidFill>
            <a:prstDash val="solid"/>
          </a:ln>
        </p:spPr>
      </p:sp>
      <p:sp>
        <p:nvSpPr>
          <p:cNvPr id="15" name="Text 13"/>
          <p:cNvSpPr/>
          <p:nvPr/>
        </p:nvSpPr>
        <p:spPr>
          <a:xfrm>
            <a:off x="1106424" y="4206240"/>
            <a:ext cx="384048" cy="182880"/>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6" name="Text 14"/>
          <p:cNvSpPr/>
          <p:nvPr/>
        </p:nvSpPr>
        <p:spPr>
          <a:xfrm>
            <a:off x="2057400" y="4023360"/>
            <a:ext cx="8869680" cy="320040"/>
          </a:xfrm>
          <a:prstGeom prst="rect">
            <a:avLst/>
          </a:prstGeom>
          <a:noFill/>
          <a:ln/>
        </p:spPr>
        <p:txBody>
          <a:bodyPr wrap="square" lIns="0" tIns="0" rIns="0" bIns="0" rtlCol="0" anchor="ctr">
            <a:normAutofit/>
          </a:bodyPr>
          <a:lstStyle/>
          <a:p>
            <a:pPr indent="0" marL="0">
              <a:buNone/>
            </a:pPr>
            <a:r>
              <a:rPr lang="en-US" sz="1800" b="1" dirty="0">
                <a:solidFill>
                  <a:srgbClr val="1F2937"/>
                </a:solidFill>
              </a:rPr>
              <a:t>Viitorul poate fi modelat probabilistic, dar nu cunoscut absolut.</a:t>
            </a:r>
            <a:endParaRPr lang="en-US" sz="1800" dirty="0"/>
          </a:p>
        </p:txBody>
      </p:sp>
      <p:sp>
        <p:nvSpPr>
          <p:cNvPr id="17" name="Shape 15"/>
          <p:cNvSpPr/>
          <p:nvPr/>
        </p:nvSpPr>
        <p:spPr>
          <a:xfrm>
            <a:off x="1325880" y="5440680"/>
            <a:ext cx="9555480" cy="475488"/>
          </a:xfrm>
          <a:prstGeom prst="roundRect">
            <a:avLst/>
          </a:prstGeom>
          <a:solidFill>
            <a:srgbClr val="FFFFFF"/>
          </a:solidFill>
          <a:ln w="12700">
            <a:solidFill>
              <a:srgbClr val="D1DAE6"/>
            </a:solidFill>
            <a:prstDash val="solid"/>
          </a:ln>
        </p:spPr>
      </p:sp>
      <p:sp>
        <p:nvSpPr>
          <p:cNvPr id="18" name="Text 16"/>
          <p:cNvSpPr/>
          <p:nvPr/>
        </p:nvSpPr>
        <p:spPr>
          <a:xfrm>
            <a:off x="1508760" y="5605272"/>
            <a:ext cx="9189720" cy="146304"/>
          </a:xfrm>
          <a:prstGeom prst="rect">
            <a:avLst/>
          </a:prstGeom>
          <a:noFill/>
          <a:ln/>
        </p:spPr>
        <p:txBody>
          <a:bodyPr wrap="square" lIns="0" tIns="0" rIns="0" bIns="0" rtlCol="0" anchor="ctr">
            <a:normAutofit/>
          </a:bodyPr>
          <a:lstStyle/>
          <a:p>
            <a:pPr algn="ctr" indent="0" marL="0">
              <a:buNone/>
            </a:pPr>
            <a:r>
              <a:rPr lang="en-US" sz="1350" b="1" dirty="0">
                <a:solidFill>
                  <a:srgbClr val="0B1F33"/>
                </a:solidFill>
              </a:rPr>
              <a:t>Ideea finală: spațiul și timpul ne ajută să înțelegem unde suntem, de unde venim și ce responsabilități avem față de viitor.</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475488"/>
          </a:xfrm>
          <a:prstGeom prst="rect">
            <a:avLst/>
          </a:prstGeom>
          <a:solidFill>
            <a:srgbClr val="0B1F33"/>
          </a:solidFill>
          <a:ln w="12700">
            <a:solidFill>
              <a:srgbClr val="0B1F33"/>
            </a:solidFill>
            <a:prstDash val="solid"/>
          </a:ln>
        </p:spPr>
      </p:sp>
      <p:sp>
        <p:nvSpPr>
          <p:cNvPr id="3" name="Text 1"/>
          <p:cNvSpPr/>
          <p:nvPr/>
        </p:nvSpPr>
        <p:spPr>
          <a:xfrm>
            <a:off x="502920" y="146304"/>
            <a:ext cx="3474720" cy="164592"/>
          </a:xfrm>
          <a:prstGeom prst="rect">
            <a:avLst/>
          </a:prstGeom>
          <a:noFill/>
          <a:ln/>
        </p:spPr>
        <p:txBody>
          <a:bodyPr wrap="square" lIns="0" tIns="0" rIns="0" bIns="0" rtlCol="0" anchor="ctr"/>
          <a:lstStyle/>
          <a:p>
            <a:pPr indent="0" marL="0">
              <a:buNone/>
            </a:pPr>
            <a:r>
              <a:rPr lang="en-US" sz="850" b="1" dirty="0">
                <a:solidFill>
                  <a:srgbClr val="FFFFFF"/>
                </a:solidFill>
                <a:latin typeface="Arial" pitchFamily="34" charset="0"/>
                <a:ea typeface="Arial" pitchFamily="34" charset="-122"/>
                <a:cs typeface="Arial" pitchFamily="34" charset="-120"/>
              </a:rPr>
              <a:t>Surse</a:t>
            </a:r>
            <a:endParaRPr lang="en-US" sz="850" dirty="0"/>
          </a:p>
        </p:txBody>
      </p:sp>
      <p:sp>
        <p:nvSpPr>
          <p:cNvPr id="4" name="Text 2"/>
          <p:cNvSpPr/>
          <p:nvPr/>
        </p:nvSpPr>
        <p:spPr>
          <a:xfrm>
            <a:off x="502920" y="704088"/>
            <a:ext cx="11155680" cy="502920"/>
          </a:xfrm>
          <a:prstGeom prst="rect">
            <a:avLst/>
          </a:prstGeom>
          <a:noFill/>
          <a:ln/>
        </p:spPr>
        <p:txBody>
          <a:bodyPr wrap="square" lIns="254" tIns="254" rIns="254" bIns="254" rtlCol="0" anchor="ctr">
            <a:normAutofit/>
          </a:bodyPr>
          <a:lstStyle/>
          <a:p>
            <a:pPr indent="0" marL="0">
              <a:buNone/>
            </a:pPr>
            <a:r>
              <a:rPr lang="en-US" sz="2350" b="1" dirty="0">
                <a:solidFill>
                  <a:srgbClr val="0B1F33"/>
                </a:solidFill>
                <a:latin typeface="Arial" pitchFamily="34" charset="0"/>
                <a:ea typeface="Arial" pitchFamily="34" charset="-122"/>
                <a:cs typeface="Arial" pitchFamily="34" charset="-120"/>
              </a:rPr>
              <a:t>Bibliografie selectivă</a:t>
            </a:r>
            <a:endParaRPr lang="en-US" sz="2350" dirty="0"/>
          </a:p>
        </p:txBody>
      </p:sp>
      <p:sp>
        <p:nvSpPr>
          <p:cNvPr id="5" name="Shape 3"/>
          <p:cNvSpPr/>
          <p:nvPr/>
        </p:nvSpPr>
        <p:spPr>
          <a:xfrm>
            <a:off x="502920" y="6446520"/>
            <a:ext cx="11155680" cy="0"/>
          </a:xfrm>
          <a:prstGeom prst="line">
            <a:avLst/>
          </a:prstGeom>
          <a:noFill/>
          <a:ln w="9525">
            <a:solidFill>
              <a:srgbClr val="CCD5E1"/>
            </a:solidFill>
            <a:prstDash val="solid"/>
          </a:ln>
        </p:spPr>
      </p:sp>
      <p:sp>
        <p:nvSpPr>
          <p:cNvPr id="6" name="Text 4"/>
          <p:cNvSpPr/>
          <p:nvPr/>
        </p:nvSpPr>
        <p:spPr>
          <a:xfrm>
            <a:off x="530352" y="6510528"/>
            <a:ext cx="7498080" cy="164592"/>
          </a:xfrm>
          <a:prstGeom prst="rect">
            <a:avLst/>
          </a:prstGeom>
          <a:noFill/>
          <a:ln/>
        </p:spPr>
        <p:txBody>
          <a:bodyPr wrap="square" lIns="0" tIns="0" rIns="0" bIns="0" rtlCol="0" anchor="ctr"/>
          <a:lstStyle/>
          <a:p>
            <a:pPr indent="0" marL="0">
              <a:buNone/>
            </a:pPr>
            <a:r>
              <a:rPr lang="en-US" sz="780" dirty="0">
                <a:solidFill>
                  <a:srgbClr val="5B6777"/>
                </a:solidFill>
                <a:latin typeface="Arial" pitchFamily="34" charset="0"/>
                <a:ea typeface="Arial" pitchFamily="34" charset="-122"/>
                <a:cs typeface="Arial" pitchFamily="34" charset="-120"/>
              </a:rPr>
              <a:t>Spațiul și timpul  |  Duțu Edmond, XII-C</a:t>
            </a:r>
            <a:endParaRPr lang="en-US" sz="780" dirty="0"/>
          </a:p>
        </p:txBody>
      </p:sp>
      <p:sp>
        <p:nvSpPr>
          <p:cNvPr id="7" name="Text 5"/>
          <p:cNvSpPr/>
          <p:nvPr/>
        </p:nvSpPr>
        <p:spPr>
          <a:xfrm>
            <a:off x="11201400" y="6510528"/>
            <a:ext cx="457200" cy="164592"/>
          </a:xfrm>
          <a:prstGeom prst="rect">
            <a:avLst/>
          </a:prstGeom>
          <a:noFill/>
          <a:ln/>
        </p:spPr>
        <p:txBody>
          <a:bodyPr wrap="square" lIns="0" tIns="0" rIns="0" bIns="0" rtlCol="0" anchor="ctr"/>
          <a:lstStyle/>
          <a:p>
            <a:pPr algn="r" indent="0" marL="0">
              <a:buNone/>
            </a:pPr>
            <a:r>
              <a:rPr lang="en-US" sz="780" dirty="0">
                <a:solidFill>
                  <a:srgbClr val="5B6777"/>
                </a:solidFill>
                <a:latin typeface="Arial" pitchFamily="34" charset="0"/>
                <a:ea typeface="Arial" pitchFamily="34" charset="-122"/>
                <a:cs typeface="Arial" pitchFamily="34" charset="-120"/>
              </a:rPr>
              <a:t>15</a:t>
            </a:r>
            <a:endParaRPr lang="en-US" sz="780" dirty="0"/>
          </a:p>
        </p:txBody>
      </p:sp>
      <p:sp>
        <p:nvSpPr>
          <p:cNvPr id="8" name="Shape 6"/>
          <p:cNvSpPr/>
          <p:nvPr/>
        </p:nvSpPr>
        <p:spPr>
          <a:xfrm>
            <a:off x="777240" y="1325880"/>
            <a:ext cx="5257800" cy="4434840"/>
          </a:xfrm>
          <a:prstGeom prst="roundRect">
            <a:avLst>
              <a:gd name="adj" fmla="val 1649"/>
            </a:avLst>
          </a:prstGeom>
          <a:solidFill>
            <a:srgbClr val="FFFFFF"/>
          </a:solidFill>
          <a:ln w="8890">
            <a:solidFill>
              <a:srgbClr val="D1DAE6"/>
            </a:solidFill>
            <a:prstDash val="solid"/>
          </a:ln>
        </p:spPr>
      </p:sp>
      <p:sp>
        <p:nvSpPr>
          <p:cNvPr id="9" name="Text 7"/>
          <p:cNvSpPr/>
          <p:nvPr/>
        </p:nvSpPr>
        <p:spPr>
          <a:xfrm>
            <a:off x="978408" y="1508760"/>
            <a:ext cx="4910328" cy="411480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 OpenStax – University Physics Volume 3</a:t>
            </a:r>
            <a:endParaRPr lang="en-US" sz="1250" dirty="0"/>
          </a:p>
          <a:p>
            <a:pPr indent="0" marL="0">
              <a:buNone/>
            </a:pPr>
            <a:r>
              <a:rPr lang="en-US" sz="1250" dirty="0">
                <a:solidFill>
                  <a:srgbClr val="1F2937"/>
                </a:solidFill>
              </a:rPr>
              <a:t>• OpenStax – Chemistry 2e</a:t>
            </a:r>
            <a:endParaRPr lang="en-US" sz="1250" dirty="0"/>
          </a:p>
          <a:p>
            <a:pPr indent="0" marL="0">
              <a:buNone/>
            </a:pPr>
            <a:r>
              <a:rPr lang="en-US" sz="1250" dirty="0">
                <a:solidFill>
                  <a:srgbClr val="1F2937"/>
                </a:solidFill>
              </a:rPr>
              <a:t>• López-Otín et al. – The Hallmarks of Aging</a:t>
            </a:r>
            <a:endParaRPr lang="en-US" sz="1250" dirty="0"/>
          </a:p>
          <a:p>
            <a:pPr indent="0" marL="0">
              <a:buNone/>
            </a:pPr>
            <a:r>
              <a:rPr lang="en-US" sz="1250" dirty="0">
                <a:solidFill>
                  <a:srgbClr val="1F2937"/>
                </a:solidFill>
              </a:rPr>
              <a:t>• Hayflick &amp; Moorhead – Human diploid cell strains</a:t>
            </a:r>
            <a:endParaRPr lang="en-US" sz="1250" dirty="0"/>
          </a:p>
          <a:p>
            <a:pPr indent="0" marL="0">
              <a:buNone/>
            </a:pPr>
            <a:r>
              <a:rPr lang="en-US" sz="1250" dirty="0">
                <a:solidFill>
                  <a:srgbClr val="1F2937"/>
                </a:solidFill>
              </a:rPr>
              <a:t>• Britannica – Annales school / Fernand Braudel</a:t>
            </a:r>
            <a:endParaRPr lang="en-US" sz="1250" dirty="0"/>
          </a:p>
          <a:p>
            <a:pPr indent="0" marL="0">
              <a:buNone/>
            </a:pPr>
            <a:r>
              <a:rPr lang="en-US" sz="1250" dirty="0">
                <a:solidFill>
                  <a:srgbClr val="1F2937"/>
                </a:solidFill>
              </a:rPr>
              <a:t>• Planck Collaboration – Cosmological parameters</a:t>
            </a:r>
            <a:endParaRPr lang="en-US" sz="1250" dirty="0"/>
          </a:p>
        </p:txBody>
      </p:sp>
      <p:sp>
        <p:nvSpPr>
          <p:cNvPr id="10" name="Shape 8"/>
          <p:cNvSpPr/>
          <p:nvPr/>
        </p:nvSpPr>
        <p:spPr>
          <a:xfrm>
            <a:off x="6172200" y="1325880"/>
            <a:ext cx="5257800" cy="4434840"/>
          </a:xfrm>
          <a:prstGeom prst="roundRect">
            <a:avLst>
              <a:gd name="adj" fmla="val 1649"/>
            </a:avLst>
          </a:prstGeom>
          <a:solidFill>
            <a:srgbClr val="FFFFFF"/>
          </a:solidFill>
          <a:ln w="8890">
            <a:solidFill>
              <a:srgbClr val="D1DAE6"/>
            </a:solidFill>
            <a:prstDash val="solid"/>
          </a:ln>
        </p:spPr>
      </p:sp>
      <p:sp>
        <p:nvSpPr>
          <p:cNvPr id="11" name="Text 9"/>
          <p:cNvSpPr/>
          <p:nvPr/>
        </p:nvSpPr>
        <p:spPr>
          <a:xfrm>
            <a:off x="6373368" y="1508760"/>
            <a:ext cx="4910328" cy="4114800"/>
          </a:xfrm>
          <a:prstGeom prst="rect">
            <a:avLst/>
          </a:prstGeom>
          <a:noFill/>
          <a:ln/>
        </p:spPr>
        <p:txBody>
          <a:bodyPr wrap="square" lIns="254" tIns="254" rIns="254" bIns="254" rtlCol="0" anchor="ctr">
            <a:normAutofit/>
          </a:bodyPr>
          <a:lstStyle/>
          <a:p>
            <a:pPr indent="0" marL="0">
              <a:buNone/>
            </a:pPr>
            <a:r>
              <a:rPr lang="en-US" sz="1250" dirty="0">
                <a:solidFill>
                  <a:srgbClr val="1F2937"/>
                </a:solidFill>
              </a:rPr>
              <a:t>• European Commission – Single Market / TEN-T</a:t>
            </a:r>
            <a:endParaRPr lang="en-US" sz="1250" dirty="0"/>
          </a:p>
          <a:p>
            <a:pPr indent="0" marL="0">
              <a:buNone/>
            </a:pPr>
            <a:r>
              <a:rPr lang="en-US" sz="1250" dirty="0">
                <a:solidFill>
                  <a:srgbClr val="1F2937"/>
                </a:solidFill>
              </a:rPr>
              <a:t>• Kant – Critique of Pure Reason</a:t>
            </a:r>
            <a:endParaRPr lang="en-US" sz="1250" dirty="0"/>
          </a:p>
          <a:p>
            <a:pPr indent="0" marL="0">
              <a:buNone/>
            </a:pPr>
            <a:r>
              <a:rPr lang="en-US" sz="1250" dirty="0">
                <a:solidFill>
                  <a:srgbClr val="1F2937"/>
                </a:solidFill>
              </a:rPr>
              <a:t>• Stanford Encyclopedia – Kant’s Views on Space and Time</a:t>
            </a:r>
            <a:endParaRPr lang="en-US" sz="1250" dirty="0"/>
          </a:p>
          <a:p>
            <a:pPr indent="0" marL="0">
              <a:buNone/>
            </a:pPr>
            <a:r>
              <a:rPr lang="en-US" sz="1250" dirty="0">
                <a:solidFill>
                  <a:srgbClr val="1F2937"/>
                </a:solidFill>
              </a:rPr>
              <a:t>• Second Vatican Council – Sacrosanctum Concilium</a:t>
            </a:r>
            <a:endParaRPr lang="en-US" sz="1250" dirty="0"/>
          </a:p>
          <a:p>
            <a:pPr indent="0" marL="0">
              <a:buNone/>
            </a:pPr>
            <a:r>
              <a:rPr lang="en-US" sz="1250" dirty="0">
                <a:solidFill>
                  <a:srgbClr val="1F2937"/>
                </a:solidFill>
              </a:rPr>
              <a:t>• IBM Think – Predictive analytics</a:t>
            </a:r>
            <a:endParaRPr lang="en-US" sz="1250" dirty="0"/>
          </a:p>
          <a:p>
            <a:pPr indent="0" marL="0">
              <a:buNone/>
            </a:pPr>
            <a:r>
              <a:rPr lang="en-US" sz="1250" dirty="0">
                <a:solidFill>
                  <a:srgbClr val="1F2937"/>
                </a:solidFill>
              </a:rPr>
              <a:t>• European Commission – AI Act</a:t>
            </a:r>
            <a:endParaRPr lang="en-US" sz="1250" dirty="0"/>
          </a:p>
        </p:txBody>
      </p:sp>
      <p:sp>
        <p:nvSpPr>
          <p:cNvPr id="12" name="Text 10"/>
          <p:cNvSpPr/>
          <p:nvPr/>
        </p:nvSpPr>
        <p:spPr>
          <a:xfrm>
            <a:off x="1097280" y="5961888"/>
            <a:ext cx="9966960" cy="219456"/>
          </a:xfrm>
          <a:prstGeom prst="rect">
            <a:avLst/>
          </a:prstGeom>
          <a:noFill/>
          <a:ln/>
        </p:spPr>
        <p:txBody>
          <a:bodyPr wrap="square" lIns="0" tIns="0" rIns="0" bIns="0" rtlCol="0" anchor="ctr"/>
          <a:lstStyle/>
          <a:p>
            <a:pPr algn="ctr" indent="0" marL="0">
              <a:buNone/>
            </a:pPr>
            <a:r>
              <a:rPr lang="en-US" sz="1200" i="1" dirty="0">
                <a:solidFill>
                  <a:srgbClr val="5B6777"/>
                </a:solidFill>
              </a:rPr>
              <a:t>Bibliografia completă și linkurile active se află în documentația Google Docs / DOCX.</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Liceul Teoretic Jean Monnet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Spațiul și timpul</dc:title>
  <dc:subject>Proiect Pilot – Spațiul și timpul</dc:subject>
  <dc:creator>Duțu Edmond</dc:creator>
  <cp:lastModifiedBy>Duțu Edmond</cp:lastModifiedBy>
  <cp:revision>1</cp:revision>
  <dcterms:created xsi:type="dcterms:W3CDTF">2026-05-20T11:08:59Z</dcterms:created>
  <dcterms:modified xsi:type="dcterms:W3CDTF">2026-05-20T11:08:59Z</dcterms:modified>
</cp:coreProperties>
</file>